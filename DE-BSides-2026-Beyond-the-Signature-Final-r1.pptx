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Google Sans Medium" pitchFamily="2" charset="0"/>
      <p:regular r:id="rId27"/>
      <p:bold r:id="rId28"/>
      <p:italic r:id="rId29"/>
      <p:boldItalic r:id="rId30"/>
    </p:embeddedFont>
    <p:embeddedFont>
      <p:font typeface="Google Sans SemiBold" pitchFamily="2" charset="0"/>
      <p:regular r:id="rId31"/>
      <p:bold r:id="rId32"/>
      <p:italic r:id="rId33"/>
      <p:boldItalic r:id="rId34"/>
    </p:embeddedFont>
    <p:embeddedFont>
      <p:font typeface="Playfair Display" pitchFamily="2" charset="77"/>
      <p:regular r:id="rId35"/>
      <p:bold r:id="rId36"/>
      <p:italic r:id="rId37"/>
      <p:boldItalic r:id="rId38"/>
    </p:embeddedFont>
    <p:embeddedFont>
      <p:font typeface="Playfair Display Black" panose="00000A00000000000000" pitchFamily="2" charset="77"/>
      <p:bold r:id="rId39"/>
      <p:italic r:id="rId40"/>
      <p:boldItalic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E99E3-0150-FA48-8769-FE4D7A5D60D5}" v="1" dt="2026-05-02T18:54:40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3"/>
  </p:normalViewPr>
  <p:slideViewPr>
    <p:cSldViewPr snapToGrid="0">
      <p:cViewPr varScale="1">
        <p:scale>
          <a:sx n="77" d="100"/>
          <a:sy n="77" d="100"/>
        </p:scale>
        <p:origin x="63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nis Chow" userId="a5546edb-9b5b-4a54-8908-348dfc924214" providerId="ADAL" clId="{F311AB5D-3FA0-51DF-8443-7A62FBA11DCB}"/>
    <pc:docChg chg="custSel mod modSld">
      <pc:chgData name="Dennis Chow" userId="a5546edb-9b5b-4a54-8908-348dfc924214" providerId="ADAL" clId="{F311AB5D-3FA0-51DF-8443-7A62FBA11DCB}" dt="2026-05-02T18:54:46.311" v="5" actId="14100"/>
      <pc:docMkLst>
        <pc:docMk/>
      </pc:docMkLst>
      <pc:sldChg chg="modSp mod">
        <pc:chgData name="Dennis Chow" userId="a5546edb-9b5b-4a54-8908-348dfc924214" providerId="ADAL" clId="{F311AB5D-3FA0-51DF-8443-7A62FBA11DCB}" dt="2026-05-02T18:54:40.784" v="3" actId="27636"/>
        <pc:sldMkLst>
          <pc:docMk/>
          <pc:sldMk cId="0" sldId="276"/>
        </pc:sldMkLst>
        <pc:spChg chg="mod">
          <ac:chgData name="Dennis Chow" userId="a5546edb-9b5b-4a54-8908-348dfc924214" providerId="ADAL" clId="{F311AB5D-3FA0-51DF-8443-7A62FBA11DCB}" dt="2026-05-02T18:54:40.784" v="3" actId="27636"/>
          <ac:spMkLst>
            <pc:docMk/>
            <pc:sldMk cId="0" sldId="276"/>
            <ac:spMk id="597" creationId="{00000000-0000-0000-0000-000000000000}"/>
          </ac:spMkLst>
        </pc:spChg>
      </pc:sldChg>
      <pc:sldChg chg="addSp delSp modSp mod delAnim modAnim">
        <pc:chgData name="Dennis Chow" userId="a5546edb-9b5b-4a54-8908-348dfc924214" providerId="ADAL" clId="{F311AB5D-3FA0-51DF-8443-7A62FBA11DCB}" dt="2026-05-02T18:54:46.311" v="5" actId="14100"/>
        <pc:sldMkLst>
          <pc:docMk/>
          <pc:sldMk cId="0" sldId="278"/>
        </pc:sldMkLst>
        <pc:picChg chg="add mod">
          <ac:chgData name="Dennis Chow" userId="a5546edb-9b5b-4a54-8908-348dfc924214" providerId="ADAL" clId="{F311AB5D-3FA0-51DF-8443-7A62FBA11DCB}" dt="2026-05-02T18:54:46.311" v="5" actId="14100"/>
          <ac:picMkLst>
            <pc:docMk/>
            <pc:sldMk cId="0" sldId="278"/>
            <ac:picMk id="2" creationId="{CC2FCA86-6661-C2CC-595F-830CCDD3DCE8}"/>
          </ac:picMkLst>
        </pc:picChg>
        <pc:picChg chg="del">
          <ac:chgData name="Dennis Chow" userId="a5546edb-9b5b-4a54-8908-348dfc924214" providerId="ADAL" clId="{F311AB5D-3FA0-51DF-8443-7A62FBA11DCB}" dt="2026-05-02T18:53:42.373" v="0" actId="478"/>
          <ac:picMkLst>
            <pc:docMk/>
            <pc:sldMk cId="0" sldId="278"/>
            <ac:picMk id="63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748f3191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d748f319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748f31918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d748f31918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748f31918_0_2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d748f31918_0_2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748f31918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d748f31918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748f31918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d748f31918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748f31918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d748f31918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748f31918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d748f31918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748f31918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d748f31918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748f31918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d748f31918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748f3191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d748f3191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748f31918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3d748f31918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748f31918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3d748f31918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748f31918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d748f31918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748f31918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g3d748f31918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748f31918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3d748f31918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748f31918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3d748f31918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748f31918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g3d748f31918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748f31918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d748f31918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748f31918_0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g3d748f31918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748f31918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3d748f31918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d748f31918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3d748f31918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748f31918_0_2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g3d748f31918_0_2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d748f31918_0_1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d748f31918_0_1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d748f31918_0_2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3d748f31918_0_2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. Bullet &amp; List slides 5">
  <p:cSld name="CUSTOM_7_1_1_1_1_1_1_1_1_1_1_1_1_1_1_1_4_2_1"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3"/>
          <p:cNvPicPr preferRelativeResize="0"/>
          <p:nvPr/>
        </p:nvPicPr>
        <p:blipFill rotWithShape="1">
          <a:blip r:embed="rId2">
            <a:alphaModFix/>
          </a:blip>
          <a:srcRect t="69394"/>
          <a:stretch/>
        </p:blipFill>
        <p:spPr>
          <a:xfrm>
            <a:off x="12728700" y="-17651"/>
            <a:ext cx="5195297" cy="206374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2052289" y="2897883"/>
            <a:ext cx="3200400" cy="8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600"/>
              <a:buFont typeface="Google Sans Medium"/>
              <a:buNone/>
              <a:defRPr sz="36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2"/>
          </p:nvPr>
        </p:nvSpPr>
        <p:spPr>
          <a:xfrm>
            <a:off x="5565967" y="2897883"/>
            <a:ext cx="5760600" cy="8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Google Sans Medium"/>
              <a:buNone/>
              <a:defRPr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3"/>
          </p:nvPr>
        </p:nvSpPr>
        <p:spPr>
          <a:xfrm>
            <a:off x="2052289" y="5061208"/>
            <a:ext cx="3200400" cy="8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600"/>
              <a:buFont typeface="Google Sans Medium"/>
              <a:buNone/>
              <a:defRPr sz="36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4"/>
          </p:nvPr>
        </p:nvSpPr>
        <p:spPr>
          <a:xfrm>
            <a:off x="5565967" y="5061208"/>
            <a:ext cx="5760600" cy="8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Google Sans Medium"/>
              <a:buNone/>
              <a:defRPr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5"/>
          </p:nvPr>
        </p:nvSpPr>
        <p:spPr>
          <a:xfrm>
            <a:off x="2052289" y="7205508"/>
            <a:ext cx="3200400" cy="8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600"/>
              <a:buFont typeface="Google Sans Medium"/>
              <a:buNone/>
              <a:defRPr sz="36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6"/>
          </p:nvPr>
        </p:nvSpPr>
        <p:spPr>
          <a:xfrm>
            <a:off x="5565967" y="7205508"/>
            <a:ext cx="5760600" cy="8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Google Sans Medium"/>
              <a:buNone/>
              <a:defRPr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68148" y="9693221"/>
            <a:ext cx="2600400" cy="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Google Cloud Next </a:t>
            </a:r>
            <a:endParaRPr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4602206" y="9665025"/>
            <a:ext cx="3000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Proprietary</a:t>
            </a:r>
            <a:endParaRPr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668150" y="597600"/>
            <a:ext cx="8400000" cy="121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. Bullet &amp; List slides 6">
  <p:cSld name="CUSTOM_7_1_1_1_1_1_1_1_1_1_1_1_1_1_1_1_4_7"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685800" y="4253767"/>
            <a:ext cx="4116300" cy="94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1pPr>
            <a:lvl2pPr lvl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2"/>
          </p:nvPr>
        </p:nvSpPr>
        <p:spPr>
          <a:xfrm>
            <a:off x="685800" y="5407243"/>
            <a:ext cx="4116300" cy="371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3"/>
          </p:nvPr>
        </p:nvSpPr>
        <p:spPr>
          <a:xfrm>
            <a:off x="6803510" y="4253767"/>
            <a:ext cx="4116300" cy="94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1pPr>
            <a:lvl2pPr lvl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 idx="4"/>
          </p:nvPr>
        </p:nvSpPr>
        <p:spPr>
          <a:xfrm>
            <a:off x="6803509" y="5407243"/>
            <a:ext cx="4116300" cy="371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5"/>
          </p:nvPr>
        </p:nvSpPr>
        <p:spPr>
          <a:xfrm>
            <a:off x="12921202" y="4253767"/>
            <a:ext cx="4116300" cy="94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1pPr>
            <a:lvl2pPr lvl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oogle Sans Medium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6"/>
          </p:nvPr>
        </p:nvSpPr>
        <p:spPr>
          <a:xfrm>
            <a:off x="12921201" y="5407243"/>
            <a:ext cx="4116300" cy="371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None/>
              <a:defRPr sz="2800"/>
            </a:lvl9pPr>
          </a:lstStyle>
          <a:p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8148" y="9693221"/>
            <a:ext cx="2600400" cy="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Google Cloud Next </a:t>
            </a:r>
            <a:endParaRPr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4602206" y="9665025"/>
            <a:ext cx="3000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Proprietary</a:t>
            </a:r>
            <a:endParaRPr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7"/>
          </p:nvPr>
        </p:nvSpPr>
        <p:spPr>
          <a:xfrm>
            <a:off x="668151" y="597611"/>
            <a:ext cx="7222200" cy="121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. Title - Body 6">
  <p:cSld name="CUSTOM_7_1_1_1_1_1_1_1_1_1_1_1_1_1_1_1_3_1_1_1_2"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668148" y="9693221"/>
            <a:ext cx="2600400" cy="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Google Cloud Next </a:t>
            </a:r>
            <a:endParaRPr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4602206" y="9665025"/>
            <a:ext cx="3000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Proprietary</a:t>
            </a:r>
            <a:endParaRPr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668150" y="597600"/>
            <a:ext cx="5735400" cy="121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 Medium"/>
              <a:buNone/>
              <a:defRPr sz="7200"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9220250" y="5065800"/>
            <a:ext cx="8934600" cy="4509600"/>
          </a:xfrm>
          <a:prstGeom prst="rect">
            <a:avLst/>
          </a:prstGeom>
        </p:spPr>
        <p:txBody>
          <a:bodyPr spcFirstLastPara="1" wrap="square" lIns="0" tIns="0" rIns="182850" bIns="0" anchor="t" anchorCtr="0">
            <a:normAutofit/>
          </a:bodyPr>
          <a:lstStyle>
            <a:lvl1pPr marL="457200" marR="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Char char="•"/>
              <a:defRPr sz="28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marL="914400" marR="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Char char="–"/>
              <a:defRPr sz="2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marR="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Char char="•"/>
              <a:defRPr sz="2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marR="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Char char="–"/>
              <a:defRPr sz="2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marR="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Char char="»"/>
              <a:defRPr sz="2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marR="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Char char="•"/>
              <a:defRPr sz="2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marR="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Char char="•"/>
              <a:defRPr sz="2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marR="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Char char="•"/>
              <a:defRPr sz="2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marR="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 Medium"/>
              <a:buChar char="•"/>
              <a:defRPr sz="2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ubTitle" idx="2"/>
          </p:nvPr>
        </p:nvSpPr>
        <p:spPr>
          <a:xfrm>
            <a:off x="9220250" y="957800"/>
            <a:ext cx="8176200" cy="3501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600"/>
              <a:buFont typeface="Google Sans Medium"/>
              <a:buNone/>
              <a:defRPr sz="36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types-of-regression-technique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www.geeksforgeeks.org/machine-learning/ml-classification-vs-regression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lastic.co/docs/solutions/security/detect-and-alert/common-rule-setting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dsiege.com/blog/2023/04/evading-crowdstrike-falcon-using-entropy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gif"/><Relationship Id="rId5" Type="http://schemas.openxmlformats.org/officeDocument/2006/relationships/hyperlink" Target="https://neuvik.com/using-genai-to-encode-malware-and-bypass-edr/" TargetMode="External"/><Relationship Id="rId4" Type="http://schemas.openxmlformats.org/officeDocument/2006/relationships/hyperlink" Target="https://pmc.ncbi.nlm.nih.gov/articles/PMC8871499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hyperlink" Target="https://www.virustotal.com/gui/file/a0bcbe4779f8248b75102ed7a89947b5d2fd04a700f4e2d592e55ed04a241070?nocache=1" TargetMode="Externa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crowdstrike/comments/1dpgonj/large_malware_file_inspection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hyperlink" Target="https://docs.paloaltonetworks.com/prisma-access-browser/integrations/first-party-integrations/file-handling-and-analysis-in-advanced-wildfire" TargetMode="External"/><Relationship Id="rId4" Type="http://schemas.openxmlformats.org/officeDocument/2006/relationships/hyperlink" Target="https://knowledge.broadcom.com/external/article/292091/what-kind-of-files-are-uploadedto-carbon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ostarch.com/evasion-enginee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hyperlink" Target="https://github.com/0xflux/Rust-Hells-Gate" TargetMode="External"/><Relationship Id="rId4" Type="http://schemas.openxmlformats.org/officeDocument/2006/relationships/hyperlink" Target="https://oliviagallucci.com/edr-evasion-with-lesser-known-languages-macos-apis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crosoft.com/en-us/security/blog/2025/05/21/lumma-stealer-breaking-down-the-delivery-techniques-and-capabilities-of-a-prolific-infostealer/" TargetMode="External"/><Relationship Id="rId3" Type="http://schemas.openxmlformats.org/officeDocument/2006/relationships/hyperlink" Target="https://falconfeeds.io/blogs/malware-multilingual-language-clues-in-cyber-attribution/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hyperlink" Target="https://github.com/pan-unit42/playbook_viewer/blob/master/playbook_json/2024-02-08-Pikabot.json" TargetMode="External"/><Relationship Id="rId4" Type="http://schemas.openxmlformats.org/officeDocument/2006/relationships/hyperlink" Target="https://medium.com/@scottbolen/false-flag-operation-detection-investigation-checklist-80de07b79925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c401/adk-gcp-hunter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4.xml"/><Relationship Id="rId1" Type="http://schemas.openxmlformats.org/officeDocument/2006/relationships/video" Target="https://www.youtube.com/embed/Egh1JBJytm4?feature=oembed" TargetMode="External"/><Relationship Id="rId4" Type="http://schemas.openxmlformats.org/officeDocument/2006/relationships/image" Target="../media/image27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16"/>
          <p:cNvCxnSpPr/>
          <p:nvPr/>
        </p:nvCxnSpPr>
        <p:spPr>
          <a:xfrm rot="-5400000">
            <a:off x="-4059146" y="4327541"/>
            <a:ext cx="13354500" cy="0"/>
          </a:xfrm>
          <a:prstGeom prst="straightConnector1">
            <a:avLst/>
          </a:prstGeom>
          <a:noFill/>
          <a:ln w="38100" cap="flat" cmpd="sng">
            <a:solidFill>
              <a:srgbClr val="4DA1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" name="Google Shape;112;p16"/>
          <p:cNvCxnSpPr/>
          <p:nvPr/>
        </p:nvCxnSpPr>
        <p:spPr>
          <a:xfrm rot="-5400000">
            <a:off x="-3091559" y="4175141"/>
            <a:ext cx="13354500" cy="0"/>
          </a:xfrm>
          <a:prstGeom prst="straightConnector1">
            <a:avLst/>
          </a:prstGeom>
          <a:noFill/>
          <a:ln w="38100" cap="flat" cmpd="sng">
            <a:solidFill>
              <a:srgbClr val="FF9F1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16"/>
          <p:cNvCxnSpPr/>
          <p:nvPr/>
        </p:nvCxnSpPr>
        <p:spPr>
          <a:xfrm rot="-5400000">
            <a:off x="-2016950" y="4327541"/>
            <a:ext cx="13354500" cy="0"/>
          </a:xfrm>
          <a:prstGeom prst="straightConnector1">
            <a:avLst/>
          </a:prstGeom>
          <a:noFill/>
          <a:ln w="38100" cap="flat" cmpd="sng">
            <a:solidFill>
              <a:srgbClr val="6874E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4" name="Google Shape;114;p16"/>
          <p:cNvGrpSpPr/>
          <p:nvPr/>
        </p:nvGrpSpPr>
        <p:grpSpPr>
          <a:xfrm>
            <a:off x="1028700" y="884038"/>
            <a:ext cx="16230707" cy="8374317"/>
            <a:chOff x="0" y="-38100"/>
            <a:chExt cx="4274726" cy="2205567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6"/>
          <p:cNvSpPr txBox="1"/>
          <p:nvPr/>
        </p:nvSpPr>
        <p:spPr>
          <a:xfrm>
            <a:off x="1592374" y="2628900"/>
            <a:ext cx="13583400" cy="23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Beyond the Signature </a:t>
            </a:r>
            <a:endParaRPr sz="960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  <a:p>
            <a:pPr marL="0" marR="0" lvl="0" indent="0" algn="l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rgbClr val="0B132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Engineering Evasions That Break Detection Logic</a:t>
            </a:r>
            <a:endParaRPr sz="3600" i="1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18" name="Google Shape;118;p16"/>
          <p:cNvGrpSpPr/>
          <p:nvPr/>
        </p:nvGrpSpPr>
        <p:grpSpPr>
          <a:xfrm>
            <a:off x="12385106" y="6084623"/>
            <a:ext cx="4476224" cy="5510216"/>
            <a:chOff x="0" y="0"/>
            <a:chExt cx="5968299" cy="7346954"/>
          </a:xfrm>
        </p:grpSpPr>
        <p:grpSp>
          <p:nvGrpSpPr>
            <p:cNvPr id="119" name="Google Shape;119;p16"/>
            <p:cNvGrpSpPr/>
            <p:nvPr/>
          </p:nvGrpSpPr>
          <p:grpSpPr>
            <a:xfrm>
              <a:off x="0" y="0"/>
              <a:ext cx="5968299" cy="7346954"/>
              <a:chOff x="0" y="0"/>
              <a:chExt cx="660400" cy="812950"/>
            </a:xfrm>
          </p:grpSpPr>
          <p:sp>
            <p:nvSpPr>
              <p:cNvPr id="120" name="Google Shape;120;p1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" name="Google Shape;122;p16"/>
            <p:cNvGrpSpPr/>
            <p:nvPr/>
          </p:nvGrpSpPr>
          <p:grpSpPr>
            <a:xfrm>
              <a:off x="348677" y="429141"/>
              <a:ext cx="5270983" cy="6488560"/>
              <a:chOff x="0" y="0"/>
              <a:chExt cx="660400" cy="812950"/>
            </a:xfrm>
          </p:grpSpPr>
          <p:sp>
            <p:nvSpPr>
              <p:cNvPr id="123" name="Google Shape;123;p1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6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6"/>
            <p:cNvGrpSpPr/>
            <p:nvPr/>
          </p:nvGrpSpPr>
          <p:grpSpPr>
            <a:xfrm>
              <a:off x="692894" y="852793"/>
              <a:ext cx="4582516" cy="5641060"/>
              <a:chOff x="0" y="0"/>
              <a:chExt cx="660400" cy="812950"/>
            </a:xfrm>
          </p:grpSpPr>
          <p:sp>
            <p:nvSpPr>
              <p:cNvPr id="126" name="Google Shape;126;p1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28" name="Google Shape;128;p16"/>
          <p:cNvCxnSpPr/>
          <p:nvPr/>
        </p:nvCxnSpPr>
        <p:spPr>
          <a:xfrm>
            <a:off x="1592374" y="1883323"/>
            <a:ext cx="133545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9" name="Google Shape;129;p16"/>
          <p:cNvGrpSpPr/>
          <p:nvPr/>
        </p:nvGrpSpPr>
        <p:grpSpPr>
          <a:xfrm>
            <a:off x="15328896" y="1678999"/>
            <a:ext cx="406852" cy="408676"/>
            <a:chOff x="1813" y="0"/>
            <a:chExt cx="809173" cy="812800"/>
          </a:xfrm>
        </p:grpSpPr>
        <p:sp>
          <p:nvSpPr>
            <p:cNvPr id="130" name="Google Shape;130;p1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15892570" y="1678999"/>
            <a:ext cx="406852" cy="408676"/>
            <a:chOff x="1813" y="0"/>
            <a:chExt cx="809173" cy="812800"/>
          </a:xfrm>
        </p:grpSpPr>
        <p:sp>
          <p:nvSpPr>
            <p:cNvPr id="133" name="Google Shape;133;p1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16453618" y="1678999"/>
            <a:ext cx="406852" cy="408676"/>
            <a:chOff x="1813" y="0"/>
            <a:chExt cx="809173" cy="812800"/>
          </a:xfrm>
        </p:grpSpPr>
        <p:sp>
          <p:nvSpPr>
            <p:cNvPr id="136" name="Google Shape;136;p1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16"/>
          <p:cNvSpPr txBox="1"/>
          <p:nvPr/>
        </p:nvSpPr>
        <p:spPr>
          <a:xfrm>
            <a:off x="1477924" y="7525650"/>
            <a:ext cx="1358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B132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Dennis Chow</a:t>
            </a:r>
            <a:endParaRPr sz="3600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39" name="Google Shape;13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8025" y="7307075"/>
            <a:ext cx="2610350" cy="16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title="primary-UKG-logo-dark-teal-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7925" y="8192209"/>
            <a:ext cx="1740700" cy="7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/>
          <p:nvPr/>
        </p:nvSpPr>
        <p:spPr>
          <a:xfrm>
            <a:off x="8732144" y="7791597"/>
            <a:ext cx="8527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Agenda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2599625" y="1834800"/>
            <a:ext cx="11952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Applied Evasion </a:t>
            </a:r>
            <a:r>
              <a:rPr lang="en-US" sz="5600" i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r>
              <a:rPr lang="en-US" sz="56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 Strategies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29613" y="1616367"/>
            <a:ext cx="13653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0" i="0" u="none" strike="noStrike" cap="non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01.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233024" y="3105565"/>
            <a:ext cx="12273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0" i="0" u="none" strike="noStrike" cap="non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02.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249693" y="4594764"/>
            <a:ext cx="1194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0" i="0" u="none" strike="noStrike" cap="non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03.</a:t>
            </a:r>
            <a:endParaRPr/>
          </a:p>
        </p:txBody>
      </p:sp>
      <p:cxnSp>
        <p:nvCxnSpPr>
          <p:cNvPr id="150" name="Google Shape;150;p17"/>
          <p:cNvCxnSpPr/>
          <p:nvPr/>
        </p:nvCxnSpPr>
        <p:spPr>
          <a:xfrm>
            <a:off x="3273949" y="9462624"/>
            <a:ext cx="139854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1" name="Google Shape;151;p17"/>
          <p:cNvGrpSpPr/>
          <p:nvPr/>
        </p:nvGrpSpPr>
        <p:grpSpPr>
          <a:xfrm>
            <a:off x="1029612" y="9258300"/>
            <a:ext cx="406852" cy="408676"/>
            <a:chOff x="1813" y="0"/>
            <a:chExt cx="809173" cy="812800"/>
          </a:xfrm>
        </p:grpSpPr>
        <p:sp>
          <p:nvSpPr>
            <p:cNvPr id="152" name="Google Shape;152;p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7"/>
          <p:cNvGrpSpPr/>
          <p:nvPr/>
        </p:nvGrpSpPr>
        <p:grpSpPr>
          <a:xfrm>
            <a:off x="1593286" y="9258300"/>
            <a:ext cx="406852" cy="408676"/>
            <a:chOff x="1813" y="0"/>
            <a:chExt cx="809173" cy="812800"/>
          </a:xfrm>
        </p:grpSpPr>
        <p:sp>
          <p:nvSpPr>
            <p:cNvPr id="155" name="Google Shape;155;p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2154334" y="9258300"/>
            <a:ext cx="406852" cy="408676"/>
            <a:chOff x="1813" y="0"/>
            <a:chExt cx="809173" cy="812800"/>
          </a:xfrm>
        </p:grpSpPr>
        <p:sp>
          <p:nvSpPr>
            <p:cNvPr id="158" name="Google Shape;158;p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7"/>
          <p:cNvSpPr txBox="1"/>
          <p:nvPr/>
        </p:nvSpPr>
        <p:spPr>
          <a:xfrm>
            <a:off x="2599626" y="3324000"/>
            <a:ext cx="111315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Developing Behavioral Detections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2599626" y="4813200"/>
            <a:ext cx="111315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Scaling with Agentic Hunting</a:t>
            </a:r>
            <a:endParaRPr/>
          </a:p>
        </p:txBody>
      </p:sp>
      <p:grpSp>
        <p:nvGrpSpPr>
          <p:cNvPr id="162" name="Google Shape;162;p17"/>
          <p:cNvGrpSpPr/>
          <p:nvPr/>
        </p:nvGrpSpPr>
        <p:grpSpPr>
          <a:xfrm>
            <a:off x="15131638" y="-3020899"/>
            <a:ext cx="5858408" cy="7211679"/>
            <a:chOff x="2" y="-1772"/>
            <a:chExt cx="7811211" cy="9615573"/>
          </a:xfrm>
        </p:grpSpPr>
        <p:grpSp>
          <p:nvGrpSpPr>
            <p:cNvPr id="163" name="Google Shape;163;p17"/>
            <p:cNvGrpSpPr/>
            <p:nvPr/>
          </p:nvGrpSpPr>
          <p:grpSpPr>
            <a:xfrm rot="10800000">
              <a:off x="2" y="-1772"/>
              <a:ext cx="7811211" cy="9615573"/>
              <a:chOff x="0" y="0"/>
              <a:chExt cx="660400" cy="812950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 rot="10800000">
              <a:off x="456335" y="560074"/>
              <a:ext cx="6898538" cy="8492076"/>
              <a:chOff x="0" y="0"/>
              <a:chExt cx="660400" cy="812950"/>
            </a:xfrm>
          </p:grpSpPr>
          <p:sp>
            <p:nvSpPr>
              <p:cNvPr id="167" name="Google Shape;167;p1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7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17"/>
            <p:cNvGrpSpPr/>
            <p:nvPr/>
          </p:nvGrpSpPr>
          <p:grpSpPr>
            <a:xfrm rot="10800000">
              <a:off x="906813" y="1114717"/>
              <a:ext cx="5997555" cy="7382968"/>
              <a:chOff x="0" y="0"/>
              <a:chExt cx="660400" cy="812950"/>
            </a:xfrm>
          </p:grpSpPr>
          <p:sp>
            <p:nvSpPr>
              <p:cNvPr id="170" name="Google Shape;170;p1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7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8"/>
          <p:cNvGrpSpPr/>
          <p:nvPr/>
        </p:nvGrpSpPr>
        <p:grpSpPr>
          <a:xfrm>
            <a:off x="9144000" y="689546"/>
            <a:ext cx="8115354" cy="8930628"/>
            <a:chOff x="0" y="-38100"/>
            <a:chExt cx="2137363" cy="2352084"/>
          </a:xfrm>
        </p:grpSpPr>
        <p:sp>
          <p:nvSpPr>
            <p:cNvPr id="177" name="Google Shape;177;p18"/>
            <p:cNvSpPr/>
            <p:nvPr/>
          </p:nvSpPr>
          <p:spPr>
            <a:xfrm>
              <a:off x="0" y="0"/>
              <a:ext cx="2137363" cy="2313984"/>
            </a:xfrm>
            <a:custGeom>
              <a:avLst/>
              <a:gdLst/>
              <a:ahLst/>
              <a:cxnLst/>
              <a:rect l="l" t="t" r="r" b="b"/>
              <a:pathLst>
                <a:path w="2137363" h="2313984" extrusionOk="0">
                  <a:moveTo>
                    <a:pt x="45792" y="0"/>
                  </a:moveTo>
                  <a:lnTo>
                    <a:pt x="2091571" y="0"/>
                  </a:lnTo>
                  <a:cubicBezTo>
                    <a:pt x="2103716" y="0"/>
                    <a:pt x="2115363" y="4824"/>
                    <a:pt x="2123951" y="13412"/>
                  </a:cubicBezTo>
                  <a:cubicBezTo>
                    <a:pt x="2132538" y="22000"/>
                    <a:pt x="2137363" y="33647"/>
                    <a:pt x="2137363" y="45792"/>
                  </a:cubicBezTo>
                  <a:lnTo>
                    <a:pt x="2137363" y="2268192"/>
                  </a:lnTo>
                  <a:cubicBezTo>
                    <a:pt x="2137363" y="2280337"/>
                    <a:pt x="2132538" y="2291984"/>
                    <a:pt x="2123951" y="2300572"/>
                  </a:cubicBezTo>
                  <a:cubicBezTo>
                    <a:pt x="2115363" y="2309159"/>
                    <a:pt x="2103716" y="2313984"/>
                    <a:pt x="2091571" y="2313984"/>
                  </a:cubicBezTo>
                  <a:lnTo>
                    <a:pt x="45792" y="2313984"/>
                  </a:lnTo>
                  <a:cubicBezTo>
                    <a:pt x="33647" y="2313984"/>
                    <a:pt x="22000" y="2309159"/>
                    <a:pt x="13412" y="2300572"/>
                  </a:cubicBezTo>
                  <a:cubicBezTo>
                    <a:pt x="4824" y="2291984"/>
                    <a:pt x="0" y="2280337"/>
                    <a:pt x="0" y="2268192"/>
                  </a:cubicBezTo>
                  <a:lnTo>
                    <a:pt x="0" y="45792"/>
                  </a:lnTo>
                  <a:cubicBezTo>
                    <a:pt x="0" y="33647"/>
                    <a:pt x="4824" y="22000"/>
                    <a:pt x="13412" y="13412"/>
                  </a:cubicBezTo>
                  <a:cubicBezTo>
                    <a:pt x="22000" y="4824"/>
                    <a:pt x="33647" y="0"/>
                    <a:pt x="45792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18"/>
          <p:cNvSpPr txBox="1"/>
          <p:nvPr/>
        </p:nvSpPr>
        <p:spPr>
          <a:xfrm>
            <a:off x="10290863" y="6990100"/>
            <a:ext cx="61800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3F6FA"/>
                </a:solidFill>
                <a:latin typeface="Roboto"/>
                <a:ea typeface="Roboto"/>
                <a:cs typeface="Roboto"/>
                <a:sym typeface="Roboto"/>
              </a:rPr>
              <a:t>https://github.com/dc401/bsides-south-fl-2026-beyond-the-signature/</a:t>
            </a:r>
            <a:endParaRPr sz="2100">
              <a:solidFill>
                <a:srgbClr val="F3F6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856388" y="2541692"/>
            <a:ext cx="6910500" cy="46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0B132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Grab the code using the QR code</a:t>
            </a:r>
            <a:endParaRPr sz="2799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i="1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i="1">
                <a:solidFill>
                  <a:srgbClr val="0B132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Disclaimer</a:t>
            </a:r>
            <a:r>
              <a:rPr lang="en-US" sz="2799">
                <a:solidFill>
                  <a:srgbClr val="0B132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endParaRPr sz="2799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0B132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Examples and code specific to this workshop is derived from previous work.</a:t>
            </a:r>
            <a:endParaRPr sz="2799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856388" y="1280385"/>
            <a:ext cx="6910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Follow Along</a:t>
            </a:r>
            <a:endParaRPr sz="6000"/>
          </a:p>
        </p:txBody>
      </p:sp>
      <p:grpSp>
        <p:nvGrpSpPr>
          <p:cNvPr id="182" name="Google Shape;182;p18"/>
          <p:cNvGrpSpPr/>
          <p:nvPr/>
        </p:nvGrpSpPr>
        <p:grpSpPr>
          <a:xfrm>
            <a:off x="16493527" y="1280385"/>
            <a:ext cx="406852" cy="408676"/>
            <a:chOff x="1813" y="0"/>
            <a:chExt cx="809173" cy="812800"/>
          </a:xfrm>
        </p:grpSpPr>
        <p:sp>
          <p:nvSpPr>
            <p:cNvPr id="183" name="Google Shape;183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8"/>
          <p:cNvGrpSpPr/>
          <p:nvPr/>
        </p:nvGrpSpPr>
        <p:grpSpPr>
          <a:xfrm>
            <a:off x="17057202" y="1280385"/>
            <a:ext cx="406852" cy="408676"/>
            <a:chOff x="1813" y="0"/>
            <a:chExt cx="809173" cy="812800"/>
          </a:xfrm>
        </p:grpSpPr>
        <p:sp>
          <p:nvSpPr>
            <p:cNvPr id="186" name="Google Shape;186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8"/>
          <p:cNvGrpSpPr/>
          <p:nvPr/>
        </p:nvGrpSpPr>
        <p:grpSpPr>
          <a:xfrm>
            <a:off x="17618249" y="1280385"/>
            <a:ext cx="406852" cy="408676"/>
            <a:chOff x="1813" y="0"/>
            <a:chExt cx="809173" cy="812800"/>
          </a:xfrm>
        </p:grpSpPr>
        <p:sp>
          <p:nvSpPr>
            <p:cNvPr id="189" name="Google Shape;189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8378227" y="8752048"/>
            <a:ext cx="406852" cy="408676"/>
            <a:chOff x="1813" y="0"/>
            <a:chExt cx="809173" cy="812800"/>
          </a:xfrm>
        </p:grpSpPr>
        <p:sp>
          <p:nvSpPr>
            <p:cNvPr id="192" name="Google Shape;192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8941902" y="8752048"/>
            <a:ext cx="406852" cy="408676"/>
            <a:chOff x="1813" y="0"/>
            <a:chExt cx="809173" cy="812800"/>
          </a:xfrm>
        </p:grpSpPr>
        <p:sp>
          <p:nvSpPr>
            <p:cNvPr id="195" name="Google Shape;195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9502949" y="8752048"/>
            <a:ext cx="406852" cy="408676"/>
            <a:chOff x="1813" y="0"/>
            <a:chExt cx="809173" cy="812800"/>
          </a:xfrm>
        </p:grpSpPr>
        <p:sp>
          <p:nvSpPr>
            <p:cNvPr id="198" name="Google Shape;198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0" name="Google Shape;2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7436" y="2848349"/>
            <a:ext cx="3846875" cy="38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9"/>
          <p:cNvGrpSpPr/>
          <p:nvPr/>
        </p:nvGrpSpPr>
        <p:grpSpPr>
          <a:xfrm>
            <a:off x="1028700" y="884038"/>
            <a:ext cx="16230707" cy="8374317"/>
            <a:chOff x="0" y="-38100"/>
            <a:chExt cx="4274726" cy="2205567"/>
          </a:xfrm>
        </p:grpSpPr>
        <p:sp>
          <p:nvSpPr>
            <p:cNvPr id="206" name="Google Shape;206;p1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9"/>
          <p:cNvSpPr txBox="1"/>
          <p:nvPr/>
        </p:nvSpPr>
        <p:spPr>
          <a:xfrm>
            <a:off x="1340293" y="762000"/>
            <a:ext cx="2811600" cy="2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56" b="0" i="0" u="none" strike="noStrike" cap="none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</a:t>
            </a:r>
            <a:r>
              <a:rPr lang="en-US" sz="13856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1</a:t>
            </a:r>
            <a:r>
              <a:rPr lang="en-US" sz="13856" b="0" i="0" u="none" strike="noStrike" cap="none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849371" y="7337622"/>
            <a:ext cx="9909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Evasive Strategies and Payloads</a:t>
            </a:r>
            <a:endParaRPr sz="6000"/>
          </a:p>
        </p:txBody>
      </p:sp>
      <p:grpSp>
        <p:nvGrpSpPr>
          <p:cNvPr id="210" name="Google Shape;210;p19"/>
          <p:cNvGrpSpPr/>
          <p:nvPr/>
        </p:nvGrpSpPr>
        <p:grpSpPr>
          <a:xfrm>
            <a:off x="-3233490" y="5979520"/>
            <a:ext cx="6999679" cy="8616579"/>
            <a:chOff x="0" y="0"/>
            <a:chExt cx="9332905" cy="11488772"/>
          </a:xfrm>
        </p:grpSpPr>
        <p:grpSp>
          <p:nvGrpSpPr>
            <p:cNvPr id="211" name="Google Shape;211;p19"/>
            <p:cNvGrpSpPr/>
            <p:nvPr/>
          </p:nvGrpSpPr>
          <p:grpSpPr>
            <a:xfrm>
              <a:off x="0" y="0"/>
              <a:ext cx="9332905" cy="11488772"/>
              <a:chOff x="0" y="0"/>
              <a:chExt cx="660400" cy="812950"/>
            </a:xfrm>
          </p:grpSpPr>
          <p:sp>
            <p:nvSpPr>
              <p:cNvPr id="212" name="Google Shape;21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" name="Google Shape;214;p19"/>
            <p:cNvGrpSpPr/>
            <p:nvPr/>
          </p:nvGrpSpPr>
          <p:grpSpPr>
            <a:xfrm>
              <a:off x="545238" y="671062"/>
              <a:ext cx="8242386" cy="10146348"/>
              <a:chOff x="0" y="0"/>
              <a:chExt cx="660400" cy="812950"/>
            </a:xfrm>
          </p:grpSpPr>
          <p:sp>
            <p:nvSpPr>
              <p:cNvPr id="215" name="Google Shape;21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" name="Google Shape;217;p19"/>
            <p:cNvGrpSpPr/>
            <p:nvPr/>
          </p:nvGrpSpPr>
          <p:grpSpPr>
            <a:xfrm>
              <a:off x="1083502" y="1333541"/>
              <a:ext cx="7165868" cy="8821158"/>
              <a:chOff x="0" y="0"/>
              <a:chExt cx="660400" cy="812950"/>
            </a:xfrm>
          </p:grpSpPr>
          <p:sp>
            <p:nvSpPr>
              <p:cNvPr id="218" name="Google Shape;21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0" name="Google Shape;220;p19"/>
          <p:cNvGrpSpPr/>
          <p:nvPr/>
        </p:nvGrpSpPr>
        <p:grpSpPr>
          <a:xfrm rot="10800000">
            <a:off x="13557505" y="-3280398"/>
            <a:ext cx="6999679" cy="8616579"/>
            <a:chOff x="0" y="0"/>
            <a:chExt cx="9332905" cy="11488772"/>
          </a:xfrm>
        </p:grpSpPr>
        <p:grpSp>
          <p:nvGrpSpPr>
            <p:cNvPr id="221" name="Google Shape;221;p19"/>
            <p:cNvGrpSpPr/>
            <p:nvPr/>
          </p:nvGrpSpPr>
          <p:grpSpPr>
            <a:xfrm>
              <a:off x="0" y="0"/>
              <a:ext cx="9332905" cy="11488772"/>
              <a:chOff x="0" y="0"/>
              <a:chExt cx="660400" cy="812950"/>
            </a:xfrm>
          </p:grpSpPr>
          <p:sp>
            <p:nvSpPr>
              <p:cNvPr id="222" name="Google Shape;22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" name="Google Shape;224;p19"/>
            <p:cNvGrpSpPr/>
            <p:nvPr/>
          </p:nvGrpSpPr>
          <p:grpSpPr>
            <a:xfrm>
              <a:off x="545238" y="671062"/>
              <a:ext cx="8242386" cy="10146348"/>
              <a:chOff x="0" y="0"/>
              <a:chExt cx="660400" cy="812950"/>
            </a:xfrm>
          </p:grpSpPr>
          <p:sp>
            <p:nvSpPr>
              <p:cNvPr id="225" name="Google Shape;22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" name="Google Shape;227;p19"/>
            <p:cNvGrpSpPr/>
            <p:nvPr/>
          </p:nvGrpSpPr>
          <p:grpSpPr>
            <a:xfrm>
              <a:off x="1083502" y="1333541"/>
              <a:ext cx="7165868" cy="8821158"/>
              <a:chOff x="0" y="0"/>
              <a:chExt cx="660400" cy="812950"/>
            </a:xfrm>
          </p:grpSpPr>
          <p:sp>
            <p:nvSpPr>
              <p:cNvPr id="228" name="Google Shape;22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30" name="Google Shape;230;p19"/>
          <p:cNvCxnSpPr/>
          <p:nvPr/>
        </p:nvCxnSpPr>
        <p:spPr>
          <a:xfrm>
            <a:off x="4638177" y="2245984"/>
            <a:ext cx="9799800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1" name="Google Shape;231;p19"/>
          <p:cNvGrpSpPr/>
          <p:nvPr/>
        </p:nvGrpSpPr>
        <p:grpSpPr>
          <a:xfrm>
            <a:off x="15226010" y="2079760"/>
            <a:ext cx="406852" cy="408676"/>
            <a:chOff x="1813" y="0"/>
            <a:chExt cx="809173" cy="812800"/>
          </a:xfrm>
        </p:grpSpPr>
        <p:sp>
          <p:nvSpPr>
            <p:cNvPr id="232" name="Google Shape;232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9"/>
          <p:cNvGrpSpPr/>
          <p:nvPr/>
        </p:nvGrpSpPr>
        <p:grpSpPr>
          <a:xfrm>
            <a:off x="15789684" y="2079760"/>
            <a:ext cx="406852" cy="408676"/>
            <a:chOff x="1813" y="0"/>
            <a:chExt cx="809173" cy="812800"/>
          </a:xfrm>
        </p:grpSpPr>
        <p:sp>
          <p:nvSpPr>
            <p:cNvPr id="235" name="Google Shape;235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19"/>
          <p:cNvGrpSpPr/>
          <p:nvPr/>
        </p:nvGrpSpPr>
        <p:grpSpPr>
          <a:xfrm>
            <a:off x="16350731" y="2079760"/>
            <a:ext cx="406852" cy="408676"/>
            <a:chOff x="1813" y="0"/>
            <a:chExt cx="809173" cy="812800"/>
          </a:xfrm>
        </p:grpSpPr>
        <p:sp>
          <p:nvSpPr>
            <p:cNvPr id="238" name="Google Shape;238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Signature Types</a:t>
            </a:r>
            <a:endParaRPr sz="4800"/>
          </a:p>
        </p:txBody>
      </p:sp>
      <p:sp>
        <p:nvSpPr>
          <p:cNvPr id="245" name="Google Shape;245;p20"/>
          <p:cNvSpPr txBox="1"/>
          <p:nvPr/>
        </p:nvSpPr>
        <p:spPr>
          <a:xfrm>
            <a:off x="797100" y="750275"/>
            <a:ext cx="7237200" cy="76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Indicator Signatures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○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Regex: IPv4 (\d{1,3}\.\d{1,3}\.\d{1,3}\.\d{1,3})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○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Strings: “myUniqueString”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○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Binary Properties: &lt;SHA, MD5&gt;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TTP Signatures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○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Composite correlation (Event1 + Event2 + Event3)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○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State based component changes (rare CRUD events)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ML based Analytics*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○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Regression (Bayesian, K-NN, Tree)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419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000"/>
              <a:buFont typeface="Roboto"/>
              <a:buChar char="○"/>
            </a:pP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Classifiers (Sigmoid, Softmax)</a:t>
            </a:r>
            <a:endParaRPr sz="30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6" name="Google Shape;246;p20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247" name="Google Shape;247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20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250" name="Google Shape;250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20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253" name="Google Shape;253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5" name="Google Shape;255;p20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20"/>
          <p:cNvSpPr txBox="1"/>
          <p:nvPr/>
        </p:nvSpPr>
        <p:spPr>
          <a:xfrm>
            <a:off x="1029850" y="9476575"/>
            <a:ext cx="9260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https://www.geeksforgeeks.org/machine-learning/types-of-regression-techniques/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https://www.geeksforgeeks.org/machine-learning/ml-classification-vs-regression/</a:t>
            </a:r>
            <a:r>
              <a:rPr lang="en-US"/>
              <a:t> </a:t>
            </a:r>
            <a:endParaRPr/>
          </a:p>
        </p:txBody>
      </p:sp>
      <p:pic>
        <p:nvPicPr>
          <p:cNvPr id="257" name="Google Shape;25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0558" y="1811275"/>
            <a:ext cx="11498016" cy="76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Coverage Choices</a:t>
            </a:r>
            <a:endParaRPr sz="4800"/>
          </a:p>
        </p:txBody>
      </p:sp>
      <p:grpSp>
        <p:nvGrpSpPr>
          <p:cNvPr id="263" name="Google Shape;263;p21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264" name="Google Shape;264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21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267" name="Google Shape;267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1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21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270" name="Google Shape;270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72" name="Google Shape;272;p21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3" name="Google Shape;27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25" y="1003250"/>
            <a:ext cx="11769627" cy="78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11838050" y="1630150"/>
            <a:ext cx="5929500" cy="6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Common Practices</a:t>
            </a:r>
            <a:endParaRPr sz="35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508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500"/>
              <a:buFont typeface="Roboto"/>
              <a:buChar char="●"/>
            </a:pPr>
            <a:r>
              <a:rPr lang="en-US" sz="35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Tune indicators and “forget”</a:t>
            </a:r>
            <a:endParaRPr sz="35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508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500"/>
              <a:buFont typeface="Roboto"/>
              <a:buChar char="●"/>
            </a:pPr>
            <a:r>
              <a:rPr lang="en-US" sz="35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Rely completely on OOTB or CTI research</a:t>
            </a:r>
            <a:endParaRPr sz="35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508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500"/>
              <a:buFont typeface="Roboto"/>
              <a:buChar char="●"/>
            </a:pPr>
            <a:r>
              <a:rPr lang="en-US" sz="35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Not testing TN/FN dimensions</a:t>
            </a:r>
            <a:endParaRPr sz="35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508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3500"/>
              <a:buFont typeface="Roboto"/>
              <a:buChar char="●"/>
            </a:pPr>
            <a:r>
              <a:rPr lang="en-US" sz="35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1-1 event to alerts for performance</a:t>
            </a:r>
            <a:endParaRPr sz="35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Pain for All</a:t>
            </a:r>
            <a:endParaRPr sz="4800"/>
          </a:p>
        </p:txBody>
      </p:sp>
      <p:grpSp>
        <p:nvGrpSpPr>
          <p:cNvPr id="280" name="Google Shape;280;p22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281" name="Google Shape;281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22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284" name="Google Shape;284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22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287" name="Google Shape;287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9" name="Google Shape;289;p22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90" name="Google Shape;2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600" y="1055025"/>
            <a:ext cx="6067774" cy="743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9253" y="571313"/>
            <a:ext cx="9998297" cy="7919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Time is on your side</a:t>
            </a:r>
            <a:endParaRPr sz="4800"/>
          </a:p>
        </p:txBody>
      </p:sp>
      <p:grpSp>
        <p:nvGrpSpPr>
          <p:cNvPr id="297" name="Google Shape;297;p23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298" name="Google Shape;298;p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23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301" name="Google Shape;301;p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23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304" name="Google Shape;304;p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6" name="Google Shape;306;p23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7" name="Google Shape;3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7511" y="585750"/>
            <a:ext cx="11830050" cy="75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414000" y="968675"/>
            <a:ext cx="5197200" cy="7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Modifiers and Tips</a:t>
            </a:r>
            <a:endParaRPr sz="24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Exceed Analysis Window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IPS/NDR/SIEM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Ex: ELK UI: default 5 min*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Mimic Browser Use Pattern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Multiple short connections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Same time zone during busy hours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Test with Chrome HAR files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Use DNS resolver cache to surf before introducing C2 redirection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 b="1" i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 effective for syscall level pattern evasion and behavioral EDR engines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414000" y="9258325"/>
            <a:ext cx="926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https://www.elastic.co/docs/solutions/security/detect-and-alert/common-rule-settings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Low Entropy Encryption</a:t>
            </a:r>
            <a:endParaRPr sz="4800"/>
          </a:p>
        </p:txBody>
      </p:sp>
      <p:grpSp>
        <p:nvGrpSpPr>
          <p:cNvPr id="315" name="Google Shape;315;p24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316" name="Google Shape;316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24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319" name="Google Shape;319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24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322" name="Google Shape;322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4" name="Google Shape;324;p24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5" name="Google Shape;325;p24"/>
          <p:cNvSpPr txBox="1"/>
          <p:nvPr/>
        </p:nvSpPr>
        <p:spPr>
          <a:xfrm>
            <a:off x="12570350" y="991475"/>
            <a:ext cx="5197200" cy="75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Usage and Tips</a:t>
            </a:r>
            <a:endParaRPr sz="24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Payload writes to memory or disk on first scans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Data exfiltration and transport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Use for packing (Shannon ~3.25)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For execution, best combined with refactor substitutions for: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Syscalls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Alternate Libraries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Avoiding tty/shell subprocesses*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Note: IV used in our use case is </a:t>
            </a:r>
            <a:r>
              <a:rPr lang="en-US" sz="2400" i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mostly</a:t>
            </a: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 positional between multiple stream boundaries and file(s) rather than multi-round ciphertext uniquness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24"/>
          <p:cNvSpPr txBox="1"/>
          <p:nvPr/>
        </p:nvSpPr>
        <p:spPr>
          <a:xfrm>
            <a:off x="414000" y="9258325"/>
            <a:ext cx="9260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https://redsiege.com/blog/2023/04/evading-crowdstrike-falcon-using-entropy/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https://pmc.ncbi.nlm.nih.gov/articles/PMC8871499/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https://neuvik.com/using-genai-to-encode-malware-and-bypass-edr/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7" name="Google Shape;327;p24" title="hex_cipher_data_flow_simple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965200"/>
            <a:ext cx="12265548" cy="6899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Avoid the LOL</a:t>
            </a:r>
            <a:endParaRPr sz="4800"/>
          </a:p>
        </p:txBody>
      </p:sp>
      <p:grpSp>
        <p:nvGrpSpPr>
          <p:cNvPr id="333" name="Google Shape;333;p25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334" name="Google Shape;334;p2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25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337" name="Google Shape;337;p2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25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340" name="Google Shape;340;p2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2" name="Google Shape;342;p25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3" name="Google Shape;343;p25"/>
          <p:cNvSpPr txBox="1"/>
          <p:nvPr/>
        </p:nvSpPr>
        <p:spPr>
          <a:xfrm>
            <a:off x="1029600" y="1014275"/>
            <a:ext cx="8595600" cy="22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Alternatives and Tips</a:t>
            </a:r>
            <a:endParaRPr sz="24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Function substitution via sys-call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Use (some) built-in OS libraries*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Limited custom shell in Go (like EDRs)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Combine with timing modifiers and custom encryption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4" name="Google Shape;3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0350" y="237498"/>
            <a:ext cx="7237199" cy="815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600" y="3558788"/>
            <a:ext cx="8121544" cy="503684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414000" y="9258325"/>
            <a:ext cx="926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https://www.virustotal.com/gui/file/a0bcbe4779f8248b75102ed7a89947b5d2fd04a700f4e2d592e55ed04a241070?nocache=1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86575" y="7111325"/>
            <a:ext cx="2580976" cy="148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File Padding</a:t>
            </a:r>
            <a:endParaRPr sz="4800"/>
          </a:p>
        </p:txBody>
      </p:sp>
      <p:grpSp>
        <p:nvGrpSpPr>
          <p:cNvPr id="353" name="Google Shape;353;p26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354" name="Google Shape;354;p2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26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357" name="Google Shape;357;p2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26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360" name="Google Shape;360;p2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62" name="Google Shape;362;p26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3" name="Google Shape;363;p26"/>
          <p:cNvSpPr txBox="1"/>
          <p:nvPr/>
        </p:nvSpPr>
        <p:spPr>
          <a:xfrm>
            <a:off x="414000" y="1356425"/>
            <a:ext cx="5037600" cy="56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Usage and Tips</a:t>
            </a:r>
            <a:endParaRPr sz="24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C-family and Script Languages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Cheap and easy IOC change without refactor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Go compilers optimize and remov even with flags: </a:t>
            </a:r>
            <a:r>
              <a:rPr lang="en-US" sz="2400" i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//go:noinline` and `-gcflags="-N"`</a:t>
            </a:r>
            <a:endParaRPr sz="2400" i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Does not help against post-deploy executions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Engine limits vary pending vendor and technology inline type ~10- 300MB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414000" y="9258325"/>
            <a:ext cx="92607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https://www.reddit.com/r/crowdstrike/comments/1dpgonj/large_malware_file_inspection/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https://knowledge.broadcom.com/external/article/292091/what-kind-of-files-are-uploadedto-carbon.html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https://docs.paloaltonetworks.com/prisma-access-browser/integrations/first-party-integrations/file-handling-and-analysis-in-advanced-wildfire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5" name="Google Shape;36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5150" y="1356425"/>
            <a:ext cx="11922399" cy="61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Alternative Languages</a:t>
            </a:r>
            <a:endParaRPr sz="4800"/>
          </a:p>
        </p:txBody>
      </p:sp>
      <p:grpSp>
        <p:nvGrpSpPr>
          <p:cNvPr id="371" name="Google Shape;371;p27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372" name="Google Shape;372;p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27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375" name="Google Shape;375;p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27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378" name="Google Shape;378;p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0" name="Google Shape;380;p27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1" name="Google Shape;381;p27"/>
          <p:cNvSpPr txBox="1"/>
          <p:nvPr/>
        </p:nvSpPr>
        <p:spPr>
          <a:xfrm>
            <a:off x="11290600" y="1287975"/>
            <a:ext cx="6294600" cy="6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Usage and Tips</a:t>
            </a:r>
            <a:endParaRPr sz="24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 and Delphi well-known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Decent decompilers = mature detection automations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Go is versatile, but other languages like Rust, Nim, DLang useful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“Strings” commands don’t work as well for automated detections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Vendors catching onto Go but wide community support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Still won’t save you from hook inspection and other known-behaviors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 b="1" i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Don’t</a:t>
            </a: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 strip out symbols: refer to no LOLs and ‘dangerous’ libraries (Go: unsafe)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7"/>
          <p:cNvSpPr txBox="1"/>
          <p:nvPr/>
        </p:nvSpPr>
        <p:spPr>
          <a:xfrm>
            <a:off x="414000" y="9258325"/>
            <a:ext cx="926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https://nostarch.com/evasion-engineering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https://oliviagallucci.com/edr-evasion-with-lesser-known-languages-macos-apis/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https://github.com/0xflux/Rust-Hells-Gate</a:t>
            </a:r>
            <a:r>
              <a:rPr lang="en-US"/>
              <a:t>  </a:t>
            </a:r>
            <a:endParaRPr/>
          </a:p>
        </p:txBody>
      </p:sp>
      <p:pic>
        <p:nvPicPr>
          <p:cNvPr id="383" name="Google Shape;38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3275" y="1287975"/>
            <a:ext cx="8958676" cy="696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False Flags</a:t>
            </a:r>
            <a:endParaRPr sz="4800"/>
          </a:p>
        </p:txBody>
      </p:sp>
      <p:grpSp>
        <p:nvGrpSpPr>
          <p:cNvPr id="389" name="Google Shape;389;p28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390" name="Google Shape;390;p2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" name="Google Shape;392;p28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393" name="Google Shape;393;p2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28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396" name="Google Shape;396;p2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8" name="Google Shape;398;p28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9" name="Google Shape;399;p28"/>
          <p:cNvSpPr txBox="1"/>
          <p:nvPr/>
        </p:nvSpPr>
        <p:spPr>
          <a:xfrm>
            <a:off x="619050" y="945825"/>
            <a:ext cx="6999300" cy="75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Usage and Tips</a:t>
            </a:r>
            <a:endParaRPr sz="24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Use with burnable payload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Stagers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Controlled reveals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Waste CTI and SOC analyst time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Combine with tandem op distractors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Use with recent geopolitical events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Dont co-mingle multiple threat-groups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Overlapping ASN or domain typo C2 Redirection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Unique or modified strings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Shell keyboard layout settings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Language pack mutex avoidance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Regional “slang” (or slurs)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Use security vendor strings from their legitimate auxiliary binaries like honeypots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8"/>
          <p:cNvSpPr txBox="1"/>
          <p:nvPr/>
        </p:nvSpPr>
        <p:spPr>
          <a:xfrm>
            <a:off x="414000" y="9258325"/>
            <a:ext cx="926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https://falconfeeds.io/blogs/malware-multilingual-language-clues-in-cyber-attribution/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https://medium.com/@scottbolen/false-flag-operation-detection-investigation-checklist-80de07b79925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https://github.com/pan-unit42/playbook_viewer/blob/master/playbook_json/2024-02-08-Pikabot.json</a:t>
            </a:r>
            <a:r>
              <a:rPr lang="en-US"/>
              <a:t> </a:t>
            </a:r>
            <a:endParaRPr/>
          </a:p>
        </p:txBody>
      </p:sp>
      <p:pic>
        <p:nvPicPr>
          <p:cNvPr id="401" name="Google Shape;401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18350" y="768250"/>
            <a:ext cx="714375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85425" y="3708225"/>
            <a:ext cx="6460059" cy="378217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 txBox="1"/>
          <p:nvPr/>
        </p:nvSpPr>
        <p:spPr>
          <a:xfrm>
            <a:off x="9674700" y="7883750"/>
            <a:ext cx="699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Example LummaStealer Variants (April 2025)</a:t>
            </a:r>
            <a:endParaRPr sz="2400" i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29"/>
          <p:cNvGrpSpPr/>
          <p:nvPr/>
        </p:nvGrpSpPr>
        <p:grpSpPr>
          <a:xfrm>
            <a:off x="1028700" y="884038"/>
            <a:ext cx="16230707" cy="8374317"/>
            <a:chOff x="0" y="-38100"/>
            <a:chExt cx="4274726" cy="2205567"/>
          </a:xfrm>
        </p:grpSpPr>
        <p:sp>
          <p:nvSpPr>
            <p:cNvPr id="409" name="Google Shape;409;p2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1" name="Google Shape;411;p29"/>
          <p:cNvSpPr txBox="1"/>
          <p:nvPr/>
        </p:nvSpPr>
        <p:spPr>
          <a:xfrm>
            <a:off x="1766932" y="2995702"/>
            <a:ext cx="14754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Curate your efforts.</a:t>
            </a:r>
            <a:endParaRPr/>
          </a:p>
        </p:txBody>
      </p:sp>
      <p:sp>
        <p:nvSpPr>
          <p:cNvPr id="412" name="Google Shape;412;p29"/>
          <p:cNvSpPr txBox="1"/>
          <p:nvPr/>
        </p:nvSpPr>
        <p:spPr>
          <a:xfrm>
            <a:off x="2741618" y="6729502"/>
            <a:ext cx="12804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It will all be burnt in digital forensics</a:t>
            </a:r>
            <a:endParaRPr/>
          </a:p>
        </p:txBody>
      </p:sp>
      <p:cxnSp>
        <p:nvCxnSpPr>
          <p:cNvPr id="413" name="Google Shape;413;p29"/>
          <p:cNvCxnSpPr/>
          <p:nvPr/>
        </p:nvCxnSpPr>
        <p:spPr>
          <a:xfrm>
            <a:off x="1766932" y="1886465"/>
            <a:ext cx="127194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14" name="Google Shape;414;p29"/>
          <p:cNvGrpSpPr/>
          <p:nvPr/>
        </p:nvGrpSpPr>
        <p:grpSpPr>
          <a:xfrm>
            <a:off x="14988611" y="1682141"/>
            <a:ext cx="406852" cy="408676"/>
            <a:chOff x="1813" y="0"/>
            <a:chExt cx="809173" cy="812800"/>
          </a:xfrm>
        </p:grpSpPr>
        <p:sp>
          <p:nvSpPr>
            <p:cNvPr id="415" name="Google Shape;415;p2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9"/>
          <p:cNvGrpSpPr/>
          <p:nvPr/>
        </p:nvGrpSpPr>
        <p:grpSpPr>
          <a:xfrm>
            <a:off x="15552286" y="1682141"/>
            <a:ext cx="406852" cy="408676"/>
            <a:chOff x="1813" y="0"/>
            <a:chExt cx="809173" cy="812800"/>
          </a:xfrm>
        </p:grpSpPr>
        <p:sp>
          <p:nvSpPr>
            <p:cNvPr id="418" name="Google Shape;418;p2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" name="Google Shape;420;p29"/>
          <p:cNvGrpSpPr/>
          <p:nvPr/>
        </p:nvGrpSpPr>
        <p:grpSpPr>
          <a:xfrm>
            <a:off x="16113333" y="1682141"/>
            <a:ext cx="406852" cy="408676"/>
            <a:chOff x="1813" y="0"/>
            <a:chExt cx="809173" cy="812800"/>
          </a:xfrm>
        </p:grpSpPr>
        <p:sp>
          <p:nvSpPr>
            <p:cNvPr id="421" name="Google Shape;421;p2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3" name="Google Shape;423;p29"/>
          <p:cNvGrpSpPr/>
          <p:nvPr/>
        </p:nvGrpSpPr>
        <p:grpSpPr>
          <a:xfrm>
            <a:off x="-3233490" y="5979520"/>
            <a:ext cx="6999679" cy="8616579"/>
            <a:chOff x="0" y="0"/>
            <a:chExt cx="9332905" cy="11488772"/>
          </a:xfrm>
        </p:grpSpPr>
        <p:grpSp>
          <p:nvGrpSpPr>
            <p:cNvPr id="424" name="Google Shape;424;p29"/>
            <p:cNvGrpSpPr/>
            <p:nvPr/>
          </p:nvGrpSpPr>
          <p:grpSpPr>
            <a:xfrm>
              <a:off x="0" y="0"/>
              <a:ext cx="9332905" cy="11488772"/>
              <a:chOff x="0" y="0"/>
              <a:chExt cx="660400" cy="812950"/>
            </a:xfrm>
          </p:grpSpPr>
          <p:sp>
            <p:nvSpPr>
              <p:cNvPr id="425" name="Google Shape;425;p2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" name="Google Shape;427;p29"/>
            <p:cNvGrpSpPr/>
            <p:nvPr/>
          </p:nvGrpSpPr>
          <p:grpSpPr>
            <a:xfrm>
              <a:off x="545238" y="671062"/>
              <a:ext cx="8242386" cy="10146348"/>
              <a:chOff x="0" y="0"/>
              <a:chExt cx="660400" cy="812950"/>
            </a:xfrm>
          </p:grpSpPr>
          <p:sp>
            <p:nvSpPr>
              <p:cNvPr id="428" name="Google Shape;428;p2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29"/>
            <p:cNvGrpSpPr/>
            <p:nvPr/>
          </p:nvGrpSpPr>
          <p:grpSpPr>
            <a:xfrm>
              <a:off x="1083502" y="1333541"/>
              <a:ext cx="7165868" cy="8821158"/>
              <a:chOff x="0" y="0"/>
              <a:chExt cx="660400" cy="812950"/>
            </a:xfrm>
          </p:grpSpPr>
          <p:sp>
            <p:nvSpPr>
              <p:cNvPr id="431" name="Google Shape;431;p2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30"/>
          <p:cNvGrpSpPr/>
          <p:nvPr/>
        </p:nvGrpSpPr>
        <p:grpSpPr>
          <a:xfrm>
            <a:off x="1028700" y="884038"/>
            <a:ext cx="16230707" cy="8374317"/>
            <a:chOff x="0" y="-38100"/>
            <a:chExt cx="4274726" cy="2205567"/>
          </a:xfrm>
        </p:grpSpPr>
        <p:sp>
          <p:nvSpPr>
            <p:cNvPr id="438" name="Google Shape;438;p3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30"/>
          <p:cNvSpPr txBox="1"/>
          <p:nvPr/>
        </p:nvSpPr>
        <p:spPr>
          <a:xfrm>
            <a:off x="1340293" y="762000"/>
            <a:ext cx="2811600" cy="2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56" b="0" i="0" u="none" strike="noStrike" cap="none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</a:t>
            </a:r>
            <a:r>
              <a:rPr lang="en-US" sz="13856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2</a:t>
            </a:r>
            <a:r>
              <a:rPr lang="en-US" sz="13856" b="0" i="0" u="none" strike="noStrike" cap="none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.</a:t>
            </a:r>
            <a:endParaRPr/>
          </a:p>
        </p:txBody>
      </p:sp>
      <p:sp>
        <p:nvSpPr>
          <p:cNvPr id="441" name="Google Shape;441;p30"/>
          <p:cNvSpPr txBox="1"/>
          <p:nvPr/>
        </p:nvSpPr>
        <p:spPr>
          <a:xfrm>
            <a:off x="6849371" y="7337622"/>
            <a:ext cx="9909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Develop Behavioral Detections</a:t>
            </a:r>
            <a:endParaRPr sz="6000"/>
          </a:p>
        </p:txBody>
      </p:sp>
      <p:grpSp>
        <p:nvGrpSpPr>
          <p:cNvPr id="442" name="Google Shape;442;p30"/>
          <p:cNvGrpSpPr/>
          <p:nvPr/>
        </p:nvGrpSpPr>
        <p:grpSpPr>
          <a:xfrm>
            <a:off x="-3233490" y="5979520"/>
            <a:ext cx="6999679" cy="8616579"/>
            <a:chOff x="0" y="0"/>
            <a:chExt cx="9332905" cy="11488772"/>
          </a:xfrm>
        </p:grpSpPr>
        <p:grpSp>
          <p:nvGrpSpPr>
            <p:cNvPr id="443" name="Google Shape;443;p30"/>
            <p:cNvGrpSpPr/>
            <p:nvPr/>
          </p:nvGrpSpPr>
          <p:grpSpPr>
            <a:xfrm>
              <a:off x="0" y="0"/>
              <a:ext cx="9332905" cy="11488772"/>
              <a:chOff x="0" y="0"/>
              <a:chExt cx="660400" cy="812950"/>
            </a:xfrm>
          </p:grpSpPr>
          <p:sp>
            <p:nvSpPr>
              <p:cNvPr id="444" name="Google Shape;444;p3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30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30"/>
            <p:cNvGrpSpPr/>
            <p:nvPr/>
          </p:nvGrpSpPr>
          <p:grpSpPr>
            <a:xfrm>
              <a:off x="545238" y="671062"/>
              <a:ext cx="8242386" cy="10146348"/>
              <a:chOff x="0" y="0"/>
              <a:chExt cx="660400" cy="812950"/>
            </a:xfrm>
          </p:grpSpPr>
          <p:sp>
            <p:nvSpPr>
              <p:cNvPr id="447" name="Google Shape;447;p3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30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30"/>
            <p:cNvGrpSpPr/>
            <p:nvPr/>
          </p:nvGrpSpPr>
          <p:grpSpPr>
            <a:xfrm>
              <a:off x="1083502" y="1333541"/>
              <a:ext cx="7165868" cy="8821158"/>
              <a:chOff x="0" y="0"/>
              <a:chExt cx="660400" cy="812950"/>
            </a:xfrm>
          </p:grpSpPr>
          <p:sp>
            <p:nvSpPr>
              <p:cNvPr id="450" name="Google Shape;450;p3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30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2" name="Google Shape;452;p30"/>
          <p:cNvGrpSpPr/>
          <p:nvPr/>
        </p:nvGrpSpPr>
        <p:grpSpPr>
          <a:xfrm rot="10800000">
            <a:off x="13557505" y="-3280398"/>
            <a:ext cx="6999679" cy="8616579"/>
            <a:chOff x="0" y="0"/>
            <a:chExt cx="9332905" cy="11488772"/>
          </a:xfrm>
        </p:grpSpPr>
        <p:grpSp>
          <p:nvGrpSpPr>
            <p:cNvPr id="453" name="Google Shape;453;p30"/>
            <p:cNvGrpSpPr/>
            <p:nvPr/>
          </p:nvGrpSpPr>
          <p:grpSpPr>
            <a:xfrm>
              <a:off x="0" y="0"/>
              <a:ext cx="9332905" cy="11488772"/>
              <a:chOff x="0" y="0"/>
              <a:chExt cx="660400" cy="812950"/>
            </a:xfrm>
          </p:grpSpPr>
          <p:sp>
            <p:nvSpPr>
              <p:cNvPr id="454" name="Google Shape;454;p3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30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6" name="Google Shape;456;p30"/>
            <p:cNvGrpSpPr/>
            <p:nvPr/>
          </p:nvGrpSpPr>
          <p:grpSpPr>
            <a:xfrm>
              <a:off x="545238" y="671062"/>
              <a:ext cx="8242386" cy="10146348"/>
              <a:chOff x="0" y="0"/>
              <a:chExt cx="660400" cy="812950"/>
            </a:xfrm>
          </p:grpSpPr>
          <p:sp>
            <p:nvSpPr>
              <p:cNvPr id="457" name="Google Shape;457;p3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30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9" name="Google Shape;459;p30"/>
            <p:cNvGrpSpPr/>
            <p:nvPr/>
          </p:nvGrpSpPr>
          <p:grpSpPr>
            <a:xfrm>
              <a:off x="1083502" y="1333541"/>
              <a:ext cx="7165868" cy="8821158"/>
              <a:chOff x="0" y="0"/>
              <a:chExt cx="660400" cy="812950"/>
            </a:xfrm>
          </p:grpSpPr>
          <p:sp>
            <p:nvSpPr>
              <p:cNvPr id="460" name="Google Shape;460;p3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30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62" name="Google Shape;462;p30"/>
          <p:cNvCxnSpPr/>
          <p:nvPr/>
        </p:nvCxnSpPr>
        <p:spPr>
          <a:xfrm>
            <a:off x="4638177" y="2245984"/>
            <a:ext cx="9799800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63" name="Google Shape;463;p30"/>
          <p:cNvGrpSpPr/>
          <p:nvPr/>
        </p:nvGrpSpPr>
        <p:grpSpPr>
          <a:xfrm>
            <a:off x="15226010" y="2079760"/>
            <a:ext cx="406852" cy="408676"/>
            <a:chOff x="1813" y="0"/>
            <a:chExt cx="809173" cy="812800"/>
          </a:xfrm>
        </p:grpSpPr>
        <p:sp>
          <p:nvSpPr>
            <p:cNvPr id="464" name="Google Shape;464;p3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p30"/>
          <p:cNvGrpSpPr/>
          <p:nvPr/>
        </p:nvGrpSpPr>
        <p:grpSpPr>
          <a:xfrm>
            <a:off x="15789684" y="2079760"/>
            <a:ext cx="406852" cy="408676"/>
            <a:chOff x="1813" y="0"/>
            <a:chExt cx="809173" cy="812800"/>
          </a:xfrm>
        </p:grpSpPr>
        <p:sp>
          <p:nvSpPr>
            <p:cNvPr id="467" name="Google Shape;467;p3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" name="Google Shape;469;p30"/>
          <p:cNvGrpSpPr/>
          <p:nvPr/>
        </p:nvGrpSpPr>
        <p:grpSpPr>
          <a:xfrm>
            <a:off x="16350731" y="2079760"/>
            <a:ext cx="406852" cy="408676"/>
            <a:chOff x="1813" y="0"/>
            <a:chExt cx="809173" cy="812800"/>
          </a:xfrm>
        </p:grpSpPr>
        <p:sp>
          <p:nvSpPr>
            <p:cNvPr id="470" name="Google Shape;470;p3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Timing Outliers (1/2)</a:t>
            </a:r>
            <a:endParaRPr sz="4800"/>
          </a:p>
        </p:txBody>
      </p:sp>
      <p:grpSp>
        <p:nvGrpSpPr>
          <p:cNvPr id="477" name="Google Shape;477;p31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478" name="Google Shape;478;p3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1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31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481" name="Google Shape;481;p3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1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" name="Google Shape;483;p31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484" name="Google Shape;484;p3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1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86" name="Google Shape;486;p31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7" name="Google Shape;487;p31"/>
          <p:cNvSpPr txBox="1"/>
          <p:nvPr/>
        </p:nvSpPr>
        <p:spPr>
          <a:xfrm>
            <a:off x="11522900" y="808975"/>
            <a:ext cx="6359700" cy="5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Usage and Tips</a:t>
            </a:r>
            <a:endParaRPr sz="24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Suitable applications to baseline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Network Traffic + Endpoint Processes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Users operate more ‘burst-like’ behavior over 8 hour day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Gini</a:t>
            </a: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 Coefficient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0 eventually distributed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1 large variations inequality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“Burstiness”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IQR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8" name="Google Shape;4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25" y="808975"/>
            <a:ext cx="10633748" cy="753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2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Timing Outliers (2/2)</a:t>
            </a:r>
            <a:endParaRPr sz="4800"/>
          </a:p>
        </p:txBody>
      </p:sp>
      <p:grpSp>
        <p:nvGrpSpPr>
          <p:cNvPr id="494" name="Google Shape;494;p32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495" name="Google Shape;495;p3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2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32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498" name="Google Shape;498;p3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2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p32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501" name="Google Shape;501;p3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2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03" name="Google Shape;503;p32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4" name="Google Shape;504;p32"/>
          <p:cNvSpPr txBox="1"/>
          <p:nvPr/>
        </p:nvSpPr>
        <p:spPr>
          <a:xfrm>
            <a:off x="574425" y="1196725"/>
            <a:ext cx="6359700" cy="61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Measuring Baseline Deviations</a:t>
            </a:r>
            <a:endParaRPr sz="24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TL;DR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Humans are </a:t>
            </a:r>
            <a:r>
              <a:rPr lang="en-US" sz="2400" b="1" i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more</a:t>
            </a: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u="sng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inconsistent</a:t>
            </a: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 than “consistently” randomized intervals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Use of Median vs. Mean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Allows for non-normalized distributed data for UEBA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Deviation uses absolute values because too slow vs. too fast is just as suspicious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Not “as” expensive computationally and must be ran async via correlation windows and selective datapoints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5" name="Google Shape;5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4175" y="433350"/>
            <a:ext cx="9293376" cy="802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3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Go Static Analysis (1/2 )</a:t>
            </a:r>
            <a:endParaRPr sz="4800"/>
          </a:p>
        </p:txBody>
      </p:sp>
      <p:grpSp>
        <p:nvGrpSpPr>
          <p:cNvPr id="511" name="Google Shape;511;p33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512" name="Google Shape;512;p3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4" name="Google Shape;514;p33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515" name="Google Shape;515;p3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33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518" name="Google Shape;518;p3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20" name="Google Shape;520;p33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1" name="Google Shape;521;p33"/>
          <p:cNvSpPr txBox="1"/>
          <p:nvPr/>
        </p:nvSpPr>
        <p:spPr>
          <a:xfrm>
            <a:off x="11249175" y="1379200"/>
            <a:ext cx="6359700" cy="4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Combination of Indicators </a:t>
            </a:r>
            <a:endParaRPr sz="2400" b="1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Like other binaries parse the right sections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Determine the right imports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○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Stripping symbols raises EDR risk score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Key Areas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2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■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Examine for go specific meta indicators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2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■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Op codes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2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■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Imports (found from symbols)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2" indent="-3810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00"/>
              <a:buFont typeface="Roboto"/>
              <a:buChar char="■"/>
            </a:pPr>
            <a:r>
              <a:rPr lang="en-US" sz="24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Dirty word list</a:t>
            </a:r>
            <a:endParaRPr sz="2400">
              <a:solidFill>
                <a:srgbClr val="0B13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2" name="Google Shape;5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00" y="782700"/>
            <a:ext cx="10646543" cy="7528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4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Go Static Analysis (2/2 )</a:t>
            </a:r>
            <a:endParaRPr sz="4800"/>
          </a:p>
        </p:txBody>
      </p:sp>
      <p:grpSp>
        <p:nvGrpSpPr>
          <p:cNvPr id="528" name="Google Shape;528;p34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529" name="Google Shape;529;p3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34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532" name="Google Shape;532;p3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34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535" name="Google Shape;535;p3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37" name="Google Shape;537;p34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38" name="Google Shape;53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75" y="927925"/>
            <a:ext cx="9281875" cy="659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2149" y="677025"/>
            <a:ext cx="7905401" cy="7472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35"/>
          <p:cNvGrpSpPr/>
          <p:nvPr/>
        </p:nvGrpSpPr>
        <p:grpSpPr>
          <a:xfrm>
            <a:off x="1028700" y="884038"/>
            <a:ext cx="16230707" cy="8374317"/>
            <a:chOff x="0" y="-38100"/>
            <a:chExt cx="4274726" cy="2205567"/>
          </a:xfrm>
        </p:grpSpPr>
        <p:sp>
          <p:nvSpPr>
            <p:cNvPr id="545" name="Google Shape;545;p3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5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7" name="Google Shape;547;p35"/>
          <p:cNvSpPr txBox="1"/>
          <p:nvPr/>
        </p:nvSpPr>
        <p:spPr>
          <a:xfrm>
            <a:off x="1340293" y="762000"/>
            <a:ext cx="2811600" cy="2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56" b="0" i="0" u="none" strike="noStrike" cap="none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</a:t>
            </a:r>
            <a:r>
              <a:rPr lang="en-US" sz="13856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3</a:t>
            </a:r>
            <a:r>
              <a:rPr lang="en-US" sz="13856" b="0" i="0" u="none" strike="noStrike" cap="none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.</a:t>
            </a:r>
            <a:endParaRPr/>
          </a:p>
        </p:txBody>
      </p:sp>
      <p:sp>
        <p:nvSpPr>
          <p:cNvPr id="548" name="Google Shape;548;p35"/>
          <p:cNvSpPr txBox="1"/>
          <p:nvPr/>
        </p:nvSpPr>
        <p:spPr>
          <a:xfrm>
            <a:off x="6849371" y="7337622"/>
            <a:ext cx="9909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Scaling with Agentic Hunting</a:t>
            </a:r>
            <a:endParaRPr sz="6000"/>
          </a:p>
        </p:txBody>
      </p:sp>
      <p:grpSp>
        <p:nvGrpSpPr>
          <p:cNvPr id="549" name="Google Shape;549;p35"/>
          <p:cNvGrpSpPr/>
          <p:nvPr/>
        </p:nvGrpSpPr>
        <p:grpSpPr>
          <a:xfrm>
            <a:off x="-3233490" y="5979520"/>
            <a:ext cx="6999679" cy="8616579"/>
            <a:chOff x="0" y="0"/>
            <a:chExt cx="9332905" cy="11488772"/>
          </a:xfrm>
        </p:grpSpPr>
        <p:grpSp>
          <p:nvGrpSpPr>
            <p:cNvPr id="550" name="Google Shape;550;p35"/>
            <p:cNvGrpSpPr/>
            <p:nvPr/>
          </p:nvGrpSpPr>
          <p:grpSpPr>
            <a:xfrm>
              <a:off x="0" y="0"/>
              <a:ext cx="9332905" cy="11488772"/>
              <a:chOff x="0" y="0"/>
              <a:chExt cx="660400" cy="812950"/>
            </a:xfrm>
          </p:grpSpPr>
          <p:sp>
            <p:nvSpPr>
              <p:cNvPr id="551" name="Google Shape;551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5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" name="Google Shape;553;p35"/>
            <p:cNvGrpSpPr/>
            <p:nvPr/>
          </p:nvGrpSpPr>
          <p:grpSpPr>
            <a:xfrm>
              <a:off x="545238" y="671062"/>
              <a:ext cx="8242386" cy="10146348"/>
              <a:chOff x="0" y="0"/>
              <a:chExt cx="660400" cy="812950"/>
            </a:xfrm>
          </p:grpSpPr>
          <p:sp>
            <p:nvSpPr>
              <p:cNvPr id="554" name="Google Shape;554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5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6" name="Google Shape;556;p35"/>
            <p:cNvGrpSpPr/>
            <p:nvPr/>
          </p:nvGrpSpPr>
          <p:grpSpPr>
            <a:xfrm>
              <a:off x="1083502" y="1333541"/>
              <a:ext cx="7165868" cy="8821158"/>
              <a:chOff x="0" y="0"/>
              <a:chExt cx="660400" cy="812950"/>
            </a:xfrm>
          </p:grpSpPr>
          <p:sp>
            <p:nvSpPr>
              <p:cNvPr id="557" name="Google Shape;557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5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9" name="Google Shape;559;p35"/>
          <p:cNvGrpSpPr/>
          <p:nvPr/>
        </p:nvGrpSpPr>
        <p:grpSpPr>
          <a:xfrm rot="10800000">
            <a:off x="13557505" y="-3280398"/>
            <a:ext cx="6999679" cy="8616579"/>
            <a:chOff x="0" y="0"/>
            <a:chExt cx="9332905" cy="11488772"/>
          </a:xfrm>
        </p:grpSpPr>
        <p:grpSp>
          <p:nvGrpSpPr>
            <p:cNvPr id="560" name="Google Shape;560;p35"/>
            <p:cNvGrpSpPr/>
            <p:nvPr/>
          </p:nvGrpSpPr>
          <p:grpSpPr>
            <a:xfrm>
              <a:off x="0" y="0"/>
              <a:ext cx="9332905" cy="11488772"/>
              <a:chOff x="0" y="0"/>
              <a:chExt cx="660400" cy="812950"/>
            </a:xfrm>
          </p:grpSpPr>
          <p:sp>
            <p:nvSpPr>
              <p:cNvPr id="561" name="Google Shape;561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5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3" name="Google Shape;563;p35"/>
            <p:cNvGrpSpPr/>
            <p:nvPr/>
          </p:nvGrpSpPr>
          <p:grpSpPr>
            <a:xfrm>
              <a:off x="545238" y="671062"/>
              <a:ext cx="8242386" cy="10146348"/>
              <a:chOff x="0" y="0"/>
              <a:chExt cx="660400" cy="812950"/>
            </a:xfrm>
          </p:grpSpPr>
          <p:sp>
            <p:nvSpPr>
              <p:cNvPr id="564" name="Google Shape;564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5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6" name="Google Shape;566;p35"/>
            <p:cNvGrpSpPr/>
            <p:nvPr/>
          </p:nvGrpSpPr>
          <p:grpSpPr>
            <a:xfrm>
              <a:off x="1083502" y="1333541"/>
              <a:ext cx="7165868" cy="8821158"/>
              <a:chOff x="0" y="0"/>
              <a:chExt cx="660400" cy="812950"/>
            </a:xfrm>
          </p:grpSpPr>
          <p:sp>
            <p:nvSpPr>
              <p:cNvPr id="567" name="Google Shape;567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5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69" name="Google Shape;569;p35"/>
          <p:cNvCxnSpPr/>
          <p:nvPr/>
        </p:nvCxnSpPr>
        <p:spPr>
          <a:xfrm>
            <a:off x="4638177" y="2245984"/>
            <a:ext cx="9799800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0" name="Google Shape;570;p35"/>
          <p:cNvGrpSpPr/>
          <p:nvPr/>
        </p:nvGrpSpPr>
        <p:grpSpPr>
          <a:xfrm>
            <a:off x="15226010" y="2079760"/>
            <a:ext cx="406852" cy="408676"/>
            <a:chOff x="1813" y="0"/>
            <a:chExt cx="809173" cy="812800"/>
          </a:xfrm>
        </p:grpSpPr>
        <p:sp>
          <p:nvSpPr>
            <p:cNvPr id="571" name="Google Shape;571;p3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3" name="Google Shape;573;p35"/>
          <p:cNvGrpSpPr/>
          <p:nvPr/>
        </p:nvGrpSpPr>
        <p:grpSpPr>
          <a:xfrm>
            <a:off x="15789684" y="2079760"/>
            <a:ext cx="406852" cy="408676"/>
            <a:chOff x="1813" y="0"/>
            <a:chExt cx="809173" cy="812800"/>
          </a:xfrm>
        </p:grpSpPr>
        <p:sp>
          <p:nvSpPr>
            <p:cNvPr id="574" name="Google Shape;574;p3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6" name="Google Shape;576;p35"/>
          <p:cNvGrpSpPr/>
          <p:nvPr/>
        </p:nvGrpSpPr>
        <p:grpSpPr>
          <a:xfrm>
            <a:off x="16350731" y="2079760"/>
            <a:ext cx="406852" cy="408676"/>
            <a:chOff x="1813" y="0"/>
            <a:chExt cx="809173" cy="812800"/>
          </a:xfrm>
        </p:grpSpPr>
        <p:sp>
          <p:nvSpPr>
            <p:cNvPr id="577" name="Google Shape;577;p3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6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Google ADK Intro</a:t>
            </a:r>
            <a:endParaRPr sz="4800"/>
          </a:p>
        </p:txBody>
      </p:sp>
      <p:grpSp>
        <p:nvGrpSpPr>
          <p:cNvPr id="584" name="Google Shape;584;p36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585" name="Google Shape;585;p3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36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588" name="Google Shape;588;p3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0" name="Google Shape;590;p36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591" name="Google Shape;591;p3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93" name="Google Shape;593;p36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94" name="Google Shape;59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4600" y="742338"/>
            <a:ext cx="8720235" cy="746472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6"/>
          <p:cNvSpPr txBox="1">
            <a:spLocks noGrp="1"/>
          </p:cNvSpPr>
          <p:nvPr>
            <p:ph type="subTitle" idx="4294967295"/>
          </p:nvPr>
        </p:nvSpPr>
        <p:spPr>
          <a:xfrm>
            <a:off x="3139064" y="1898695"/>
            <a:ext cx="3200400" cy="845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Create Tools</a:t>
            </a:r>
            <a:endParaRPr/>
          </a:p>
        </p:txBody>
      </p:sp>
      <p:sp>
        <p:nvSpPr>
          <p:cNvPr id="596" name="Google Shape;596;p36"/>
          <p:cNvSpPr txBox="1">
            <a:spLocks noGrp="1"/>
          </p:cNvSpPr>
          <p:nvPr>
            <p:ph type="subTitle" idx="4294967295"/>
          </p:nvPr>
        </p:nvSpPr>
        <p:spPr>
          <a:xfrm>
            <a:off x="3139064" y="4062020"/>
            <a:ext cx="3200400" cy="845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Define Agents</a:t>
            </a:r>
            <a:endParaRPr/>
          </a:p>
        </p:txBody>
      </p:sp>
      <p:sp>
        <p:nvSpPr>
          <p:cNvPr id="597" name="Google Shape;597;p36"/>
          <p:cNvSpPr txBox="1">
            <a:spLocks noGrp="1"/>
          </p:cNvSpPr>
          <p:nvPr>
            <p:ph type="subTitle" idx="4294967295"/>
          </p:nvPr>
        </p:nvSpPr>
        <p:spPr>
          <a:xfrm>
            <a:off x="3139064" y="6206320"/>
            <a:ext cx="3200400" cy="8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Call Agent Workflow</a:t>
            </a:r>
            <a:endParaRPr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8" name="Google Shape;59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579" y="1810126"/>
            <a:ext cx="1078800" cy="107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99" name="Google Shape;599;p36"/>
          <p:cNvSpPr/>
          <p:nvPr/>
        </p:nvSpPr>
        <p:spPr>
          <a:xfrm>
            <a:off x="1723025" y="1809813"/>
            <a:ext cx="1078800" cy="1079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179750" tIns="179750" rIns="179750" bIns="179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22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1</a:t>
            </a:r>
            <a:endParaRPr sz="2753"/>
          </a:p>
        </p:txBody>
      </p:sp>
      <p:grpSp>
        <p:nvGrpSpPr>
          <p:cNvPr id="600" name="Google Shape;600;p36"/>
          <p:cNvGrpSpPr/>
          <p:nvPr/>
        </p:nvGrpSpPr>
        <p:grpSpPr>
          <a:xfrm>
            <a:off x="1741629" y="6060128"/>
            <a:ext cx="1078867" cy="1079444"/>
            <a:chOff x="7868889" y="7309710"/>
            <a:chExt cx="1097413" cy="1098000"/>
          </a:xfrm>
        </p:grpSpPr>
        <p:pic>
          <p:nvPicPr>
            <p:cNvPr id="601" name="Google Shape;60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68889" y="7309991"/>
              <a:ext cx="1097400" cy="10974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602" name="Google Shape;602;p36"/>
            <p:cNvSpPr/>
            <p:nvPr/>
          </p:nvSpPr>
          <p:spPr>
            <a:xfrm>
              <a:off x="7868902" y="7309710"/>
              <a:ext cx="1097400" cy="1098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179750" tIns="179750" rIns="179750" bIns="179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22">
                  <a:solidFill>
                    <a:schemeClr val="lt2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3</a:t>
              </a:r>
              <a:endParaRPr sz="2753"/>
            </a:p>
          </p:txBody>
        </p:sp>
      </p:grpSp>
      <p:grpSp>
        <p:nvGrpSpPr>
          <p:cNvPr id="603" name="Google Shape;603;p36"/>
          <p:cNvGrpSpPr/>
          <p:nvPr/>
        </p:nvGrpSpPr>
        <p:grpSpPr>
          <a:xfrm>
            <a:off x="1741630" y="3914613"/>
            <a:ext cx="1078865" cy="1083125"/>
            <a:chOff x="7868890" y="5163519"/>
            <a:chExt cx="1097412" cy="1101744"/>
          </a:xfrm>
        </p:grpSpPr>
        <p:pic>
          <p:nvPicPr>
            <p:cNvPr id="604" name="Google Shape;60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68901" y="5167863"/>
              <a:ext cx="1097400" cy="10974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605" name="Google Shape;605;p36"/>
            <p:cNvSpPr/>
            <p:nvPr/>
          </p:nvSpPr>
          <p:spPr>
            <a:xfrm>
              <a:off x="7868890" y="5163519"/>
              <a:ext cx="1097400" cy="1098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179750" tIns="179750" rIns="179750" bIns="179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22">
                  <a:solidFill>
                    <a:schemeClr val="lt2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2</a:t>
              </a:r>
              <a:endParaRPr sz="2753"/>
            </a:p>
          </p:txBody>
        </p:sp>
      </p:grpSp>
      <p:sp>
        <p:nvSpPr>
          <p:cNvPr id="606" name="Google Shape;606;p36"/>
          <p:cNvSpPr txBox="1"/>
          <p:nvPr/>
        </p:nvSpPr>
        <p:spPr>
          <a:xfrm>
            <a:off x="1029600" y="963158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https://google.github.io/adk-docs/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7"/>
          <p:cNvSpPr txBox="1"/>
          <p:nvPr/>
        </p:nvSpPr>
        <p:spPr>
          <a:xfrm>
            <a:off x="7374056" y="8646422"/>
            <a:ext cx="10393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ADK Hunter Workflow</a:t>
            </a:r>
            <a:endParaRPr sz="4800"/>
          </a:p>
        </p:txBody>
      </p:sp>
      <p:grpSp>
        <p:nvGrpSpPr>
          <p:cNvPr id="612" name="Google Shape;612;p37"/>
          <p:cNvGrpSpPr/>
          <p:nvPr/>
        </p:nvGrpSpPr>
        <p:grpSpPr>
          <a:xfrm>
            <a:off x="1029612" y="8849653"/>
            <a:ext cx="406852" cy="408676"/>
            <a:chOff x="1813" y="0"/>
            <a:chExt cx="809173" cy="812800"/>
          </a:xfrm>
        </p:grpSpPr>
        <p:sp>
          <p:nvSpPr>
            <p:cNvPr id="613" name="Google Shape;613;p3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5" name="Google Shape;615;p37"/>
          <p:cNvGrpSpPr/>
          <p:nvPr/>
        </p:nvGrpSpPr>
        <p:grpSpPr>
          <a:xfrm>
            <a:off x="1593286" y="8849653"/>
            <a:ext cx="406852" cy="408676"/>
            <a:chOff x="1813" y="0"/>
            <a:chExt cx="809173" cy="812800"/>
          </a:xfrm>
        </p:grpSpPr>
        <p:sp>
          <p:nvSpPr>
            <p:cNvPr id="616" name="Google Shape;616;p3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8" name="Google Shape;618;p37"/>
          <p:cNvGrpSpPr/>
          <p:nvPr/>
        </p:nvGrpSpPr>
        <p:grpSpPr>
          <a:xfrm>
            <a:off x="2154334" y="8849653"/>
            <a:ext cx="406852" cy="408676"/>
            <a:chOff x="1813" y="0"/>
            <a:chExt cx="809173" cy="812800"/>
          </a:xfrm>
        </p:grpSpPr>
        <p:sp>
          <p:nvSpPr>
            <p:cNvPr id="619" name="Google Shape;619;p3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21" name="Google Shape;621;p37"/>
          <p:cNvCxnSpPr/>
          <p:nvPr/>
        </p:nvCxnSpPr>
        <p:spPr>
          <a:xfrm>
            <a:off x="3142926" y="9015876"/>
            <a:ext cx="72372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2" name="Google Shape;622;p37"/>
          <p:cNvSpPr txBox="1">
            <a:spLocks noGrp="1"/>
          </p:cNvSpPr>
          <p:nvPr>
            <p:ph type="title" idx="4294967295"/>
          </p:nvPr>
        </p:nvSpPr>
        <p:spPr>
          <a:xfrm>
            <a:off x="12682000" y="1186076"/>
            <a:ext cx="3900300" cy="4831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Ingest CTI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Inform Hypothesis 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Enumerate GCP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Viable TTP Path(s)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Search GCP Logs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Validate Results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Report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37"/>
          <p:cNvSpPr txBox="1"/>
          <p:nvPr/>
        </p:nvSpPr>
        <p:spPr>
          <a:xfrm>
            <a:off x="897612" y="9646276"/>
            <a:ext cx="36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https://github.com/dc401/adk-gcp-hunter</a:t>
            </a:r>
            <a:r>
              <a:rPr lang="en-US"/>
              <a:t> </a:t>
            </a:r>
            <a:endParaRPr/>
          </a:p>
        </p:txBody>
      </p:sp>
      <p:pic>
        <p:nvPicPr>
          <p:cNvPr id="624" name="Google Shape;62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1013" y="336650"/>
            <a:ext cx="8880021" cy="804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90825" y="6870039"/>
            <a:ext cx="1668619" cy="164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descr="2-min Timelapse Google-NeXT-2026-CUSTLT-116 ADK GCP Hunter 1.5 Demo">
            <a:hlinkClick r:id="" action="ppaction://media"/>
            <a:extLst>
              <a:ext uri="{FF2B5EF4-FFF2-40B4-BE49-F238E27FC236}">
                <a16:creationId xmlns:a16="http://schemas.microsoft.com/office/drawing/2014/main" id="{CC2FCA86-6661-C2CC-595F-830CCDD3DCE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-22860"/>
            <a:ext cx="18288000" cy="10332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39"/>
          <p:cNvGrpSpPr/>
          <p:nvPr/>
        </p:nvGrpSpPr>
        <p:grpSpPr>
          <a:xfrm>
            <a:off x="1337194" y="1803725"/>
            <a:ext cx="9207450" cy="3727297"/>
            <a:chOff x="0" y="0"/>
            <a:chExt cx="12276600" cy="4969729"/>
          </a:xfrm>
        </p:grpSpPr>
        <p:sp>
          <p:nvSpPr>
            <p:cNvPr id="636" name="Google Shape;636;p39"/>
            <p:cNvSpPr txBox="1"/>
            <p:nvPr/>
          </p:nvSpPr>
          <p:spPr>
            <a:xfrm>
              <a:off x="0" y="0"/>
              <a:ext cx="122766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0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Thank You</a:t>
              </a:r>
              <a:endParaRPr/>
            </a:p>
          </p:txBody>
        </p:sp>
        <p:sp>
          <p:nvSpPr>
            <p:cNvPr id="637" name="Google Shape;637;p39"/>
            <p:cNvSpPr txBox="1"/>
            <p:nvPr/>
          </p:nvSpPr>
          <p:spPr>
            <a:xfrm>
              <a:off x="0" y="2383729"/>
              <a:ext cx="12276600" cy="25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5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marR="0" lvl="0" indent="45720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>@dwchow</a:t>
              </a:r>
              <a:endParaRPr sz="35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marR="0" lvl="0" indent="45720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>@dc401</a:t>
              </a:r>
              <a:r>
                <a:rPr lang="en-US" sz="3500" b="0" i="0" u="none" strike="noStrike" cap="non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/>
            </a:p>
          </p:txBody>
        </p:sp>
      </p:grpSp>
      <p:grpSp>
        <p:nvGrpSpPr>
          <p:cNvPr id="638" name="Google Shape;638;p39"/>
          <p:cNvGrpSpPr/>
          <p:nvPr/>
        </p:nvGrpSpPr>
        <p:grpSpPr>
          <a:xfrm>
            <a:off x="-3233490" y="5979520"/>
            <a:ext cx="6999679" cy="8616579"/>
            <a:chOff x="0" y="0"/>
            <a:chExt cx="9332905" cy="11488772"/>
          </a:xfrm>
        </p:grpSpPr>
        <p:grpSp>
          <p:nvGrpSpPr>
            <p:cNvPr id="639" name="Google Shape;639;p39"/>
            <p:cNvGrpSpPr/>
            <p:nvPr/>
          </p:nvGrpSpPr>
          <p:grpSpPr>
            <a:xfrm>
              <a:off x="0" y="0"/>
              <a:ext cx="9332905" cy="11488772"/>
              <a:chOff x="0" y="0"/>
              <a:chExt cx="660400" cy="812950"/>
            </a:xfrm>
          </p:grpSpPr>
          <p:sp>
            <p:nvSpPr>
              <p:cNvPr id="640" name="Google Shape;640;p3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2" name="Google Shape;642;p39"/>
            <p:cNvGrpSpPr/>
            <p:nvPr/>
          </p:nvGrpSpPr>
          <p:grpSpPr>
            <a:xfrm>
              <a:off x="545238" y="671062"/>
              <a:ext cx="8242386" cy="10146348"/>
              <a:chOff x="0" y="0"/>
              <a:chExt cx="660400" cy="812950"/>
            </a:xfrm>
          </p:grpSpPr>
          <p:sp>
            <p:nvSpPr>
              <p:cNvPr id="643" name="Google Shape;643;p3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5" name="Google Shape;645;p39"/>
            <p:cNvGrpSpPr/>
            <p:nvPr/>
          </p:nvGrpSpPr>
          <p:grpSpPr>
            <a:xfrm>
              <a:off x="1083502" y="1333541"/>
              <a:ext cx="7165868" cy="8821158"/>
              <a:chOff x="0" y="0"/>
              <a:chExt cx="660400" cy="812950"/>
            </a:xfrm>
          </p:grpSpPr>
          <p:sp>
            <p:nvSpPr>
              <p:cNvPr id="646" name="Google Shape;646;p3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8" name="Google Shape;648;p39"/>
          <p:cNvGrpSpPr/>
          <p:nvPr/>
        </p:nvGrpSpPr>
        <p:grpSpPr>
          <a:xfrm>
            <a:off x="16209246" y="7963899"/>
            <a:ext cx="4157499" cy="5117866"/>
            <a:chOff x="0" y="0"/>
            <a:chExt cx="5543332" cy="6823821"/>
          </a:xfrm>
        </p:grpSpPr>
        <p:grpSp>
          <p:nvGrpSpPr>
            <p:cNvPr id="649" name="Google Shape;649;p39"/>
            <p:cNvGrpSpPr/>
            <p:nvPr/>
          </p:nvGrpSpPr>
          <p:grpSpPr>
            <a:xfrm>
              <a:off x="0" y="0"/>
              <a:ext cx="5543332" cy="6823821"/>
              <a:chOff x="0" y="0"/>
              <a:chExt cx="660400" cy="812950"/>
            </a:xfrm>
          </p:grpSpPr>
          <p:sp>
            <p:nvSpPr>
              <p:cNvPr id="650" name="Google Shape;650;p3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2" name="Google Shape;652;p39"/>
            <p:cNvGrpSpPr/>
            <p:nvPr/>
          </p:nvGrpSpPr>
          <p:grpSpPr>
            <a:xfrm>
              <a:off x="323849" y="398583"/>
              <a:ext cx="4895677" cy="6026561"/>
              <a:chOff x="0" y="0"/>
              <a:chExt cx="660400" cy="812950"/>
            </a:xfrm>
          </p:grpSpPr>
          <p:sp>
            <p:nvSpPr>
              <p:cNvPr id="653" name="Google Shape;653;p3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5" name="Google Shape;655;p39"/>
            <p:cNvGrpSpPr/>
            <p:nvPr/>
          </p:nvGrpSpPr>
          <p:grpSpPr>
            <a:xfrm>
              <a:off x="643556" y="792068"/>
              <a:ext cx="4256212" cy="5239381"/>
              <a:chOff x="0" y="0"/>
              <a:chExt cx="660400" cy="812950"/>
            </a:xfrm>
          </p:grpSpPr>
          <p:sp>
            <p:nvSpPr>
              <p:cNvPr id="656" name="Google Shape;656;p3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58" name="Google Shape;658;p39"/>
          <p:cNvGrpSpPr/>
          <p:nvPr/>
        </p:nvGrpSpPr>
        <p:grpSpPr>
          <a:xfrm>
            <a:off x="8392701" y="-3153900"/>
            <a:ext cx="4304058" cy="5298280"/>
            <a:chOff x="-13" y="-1320"/>
            <a:chExt cx="5738744" cy="7064373"/>
          </a:xfrm>
        </p:grpSpPr>
        <p:grpSp>
          <p:nvGrpSpPr>
            <p:cNvPr id="659" name="Google Shape;659;p39"/>
            <p:cNvGrpSpPr/>
            <p:nvPr/>
          </p:nvGrpSpPr>
          <p:grpSpPr>
            <a:xfrm rot="10800000">
              <a:off x="-13" y="-1320"/>
              <a:ext cx="5738744" cy="7064373"/>
              <a:chOff x="0" y="0"/>
              <a:chExt cx="660400" cy="812950"/>
            </a:xfrm>
          </p:grpSpPr>
          <p:sp>
            <p:nvSpPr>
              <p:cNvPr id="660" name="Google Shape;660;p3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2" name="Google Shape;662;p39"/>
            <p:cNvGrpSpPr/>
            <p:nvPr/>
          </p:nvGrpSpPr>
          <p:grpSpPr>
            <a:xfrm rot="10800000">
              <a:off x="335293" y="411518"/>
              <a:ext cx="5068174" cy="6238903"/>
              <a:chOff x="0" y="0"/>
              <a:chExt cx="660400" cy="812950"/>
            </a:xfrm>
          </p:grpSpPr>
          <p:sp>
            <p:nvSpPr>
              <p:cNvPr id="663" name="Google Shape;663;p3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5" name="Google Shape;665;p39"/>
            <p:cNvGrpSpPr/>
            <p:nvPr/>
          </p:nvGrpSpPr>
          <p:grpSpPr>
            <a:xfrm rot="10800000">
              <a:off x="666237" y="818983"/>
              <a:ext cx="4406255" cy="5424084"/>
              <a:chOff x="0" y="0"/>
              <a:chExt cx="660400" cy="812950"/>
            </a:xfrm>
          </p:grpSpPr>
          <p:sp>
            <p:nvSpPr>
              <p:cNvPr id="666" name="Google Shape;666;p3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9"/>
              <p:cNvSpPr txBox="1"/>
              <p:nvPr/>
            </p:nvSpPr>
            <p:spPr>
              <a:xfrm>
                <a:off x="0" y="69850"/>
                <a:ext cx="660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668" name="Google Shape;6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200" y="4128475"/>
            <a:ext cx="702125" cy="70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7200" y="5054000"/>
            <a:ext cx="702125" cy="70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54488" y="3429000"/>
            <a:ext cx="3946802" cy="4866376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pic>
      <p:pic>
        <p:nvPicPr>
          <p:cNvPr id="671" name="Google Shape;67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62113" y="3429000"/>
            <a:ext cx="3684550" cy="4866375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pic>
      <p:sp>
        <p:nvSpPr>
          <p:cNvPr id="672" name="Google Shape;672;p39"/>
          <p:cNvSpPr txBox="1"/>
          <p:nvPr/>
        </p:nvSpPr>
        <p:spPr>
          <a:xfrm>
            <a:off x="8814950" y="2722500"/>
            <a:ext cx="8189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0B132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Liked the content? Consider learning more.</a:t>
            </a:r>
            <a:endParaRPr sz="2799">
              <a:solidFill>
                <a:srgbClr val="0B132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673" name="Google Shape;673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31721" y="8442900"/>
            <a:ext cx="1745326" cy="174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955238" y="8450848"/>
            <a:ext cx="1745325" cy="1724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Microsoft Macintosh PowerPoint</Application>
  <PresentationFormat>Custom</PresentationFormat>
  <Paragraphs>170</Paragraphs>
  <Slides>24</Slides>
  <Notes>24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Playfair Display</vt:lpstr>
      <vt:lpstr>Roboto</vt:lpstr>
      <vt:lpstr>Google Sans SemiBold</vt:lpstr>
      <vt:lpstr>Arial</vt:lpstr>
      <vt:lpstr>Calibri</vt:lpstr>
      <vt:lpstr>Google Sans Medium</vt:lpstr>
      <vt:lpstr>Playfair Display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• Ingest CTI • Inform Hypothesis  • Enumerate GCP • Viable TTP Path(s) • Search GCP Logs • Validate Results • Report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Dennis Chow</cp:lastModifiedBy>
  <cp:revision>1</cp:revision>
  <dcterms:modified xsi:type="dcterms:W3CDTF">2026-05-02T18:54:47Z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3535f3-a261-44fa-a080-b5a7b0a48f70_Enabled">
    <vt:lpwstr>true</vt:lpwstr>
  </property>
  <property fmtid="{D5CDD505-2E9C-101B-9397-08002B2CF9AE}" pid="3" name="MSIP_Label_163535f3-a261-44fa-a080-b5a7b0a48f70_SetDate">
    <vt:lpwstr>2026-05-02T18:53:52Z</vt:lpwstr>
  </property>
  <property fmtid="{D5CDD505-2E9C-101B-9397-08002B2CF9AE}" pid="4" name="MSIP_Label_163535f3-a261-44fa-a080-b5a7b0a48f70_Method">
    <vt:lpwstr>Standard</vt:lpwstr>
  </property>
  <property fmtid="{D5CDD505-2E9C-101B-9397-08002B2CF9AE}" pid="5" name="MSIP_Label_163535f3-a261-44fa-a080-b5a7b0a48f70_Name">
    <vt:lpwstr>UKG DLP Protected</vt:lpwstr>
  </property>
  <property fmtid="{D5CDD505-2E9C-101B-9397-08002B2CF9AE}" pid="6" name="MSIP_Label_163535f3-a261-44fa-a080-b5a7b0a48f70_SiteId">
    <vt:lpwstr>7b6f35d2-1f98-4e5e-82eb-e78f6ea5a1de</vt:lpwstr>
  </property>
  <property fmtid="{D5CDD505-2E9C-101B-9397-08002B2CF9AE}" pid="7" name="MSIP_Label_163535f3-a261-44fa-a080-b5a7b0a48f70_ActionId">
    <vt:lpwstr>01c52402-b304-4a03-98f3-4eb34150478b</vt:lpwstr>
  </property>
  <property fmtid="{D5CDD505-2E9C-101B-9397-08002B2CF9AE}" pid="8" name="MSIP_Label_163535f3-a261-44fa-a080-b5a7b0a48f70_ContentBits">
    <vt:lpwstr>0</vt:lpwstr>
  </property>
  <property fmtid="{D5CDD505-2E9C-101B-9397-08002B2CF9AE}" pid="9" name="MSIP_Label_163535f3-a261-44fa-a080-b5a7b0a48f70_Tag">
    <vt:lpwstr>50, 3, 0, 1</vt:lpwstr>
  </property>
</Properties>
</file>